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888" y="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D9D805A-9ECD-CFFD-9578-B75BC2B7BE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AE7C27D-1ED5-F642-D870-3E703CB574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8EDA146-4D77-2D39-E8EA-D6BDD78962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6C4029-77B0-35DB-1FB7-E58CCCF51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927130-2DD7-AA6B-AE40-C44C70B71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54414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912CF-ED47-1988-1FA4-B182A8DF1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A5975F0-F877-8580-5E18-BF5A354968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E8E420-BDCC-E34B-AF05-36570CCCE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2DE9E8-4809-9CCB-533B-B75ED0A2F1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0A34D0D-DD77-5A2D-DD2F-1AEBBAACF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6200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F307438-A0CD-8497-B56A-1C0C7E2D5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BEAFCDA-3ACB-770F-77E1-292ABCBCA2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E277F3-6BBE-1DC7-73E0-FB7D62B14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3487B6-B4E8-0154-D5F3-72BBC909E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1DA169-FC32-2819-3555-FDDC94D2D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5164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6433CB-2F1E-951B-78B7-C45DDC24E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0BD3EEB-F5F9-5D69-F0EB-0D9FD3BF79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6E5A81B-8332-654A-96C2-28CEFC1CDB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070B95-8345-522B-C0D5-3904A355B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159CE1-F27C-49B2-9C8B-BB8C1680B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FB9959-E0C0-F514-D4B6-25EA9B415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5671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EBBE8A-2207-B46A-729C-9D2C77D40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ED10376-418B-AA33-A039-11EAB5498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BED669C-7617-6E27-672F-FA6017FB78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0157C65-2004-62D7-8465-4264CADBB6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1A3854-4C2C-875D-2F49-3F6B26DE2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7E537CF-AF5A-EB9C-4828-9F70BEA04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DA1AB5-B0D6-FBBD-EB6B-5C263F14DF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05B88BB-FF5E-91D5-8921-097BB6595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675351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AD6C17-150F-07B4-FF3B-8F4C7E56F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3D2E5FE-5ECA-C730-95AC-3BF5E2F82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5F1CB5D-9D32-8577-7BB9-36D7AED75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F8B00B-ED2A-8B04-E3BF-504DCB1F8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3537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0190EAD-970B-B609-4074-B43BFBD34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006C01D-9AC0-04EB-9BE4-2C7E9CC2D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44F832-D8D5-D084-6BE7-7B03193076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9630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BC3D012-4191-E8E2-9DBE-908928D895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C43CC7-5616-F732-618E-9E520BACB6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0305FCA-348B-5572-355F-D2E676D072B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08A48F9-0385-CD12-9BE0-766FE1651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A5564BF-C133-72B0-284C-26CEF5E7C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A3F973B-081B-638E-4DB6-E3DDD439A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2794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7A9437-6444-2D86-9A22-11A97456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7E8090-D2A5-B4AC-15F6-403495C23E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9A7B849-A4EA-B3E2-A565-8DA7B5E62F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3FDEF2D-164F-3C54-B6C0-3AFBA6898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4259F10-7A21-5395-6F33-CEAF9940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E1C934-23C6-4DE8-8D6C-59414010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01320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C9934F-31DA-2239-811C-3D18BF6B6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0C640B-ACB8-31F9-112C-2949BB9FB7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9F84DD1-DA04-9B6E-BF25-2131C961E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914049-F464-5174-D2A9-6E7418BC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8A407C5-4090-494C-FF2E-4B52BDCE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4828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C2391F9-DF67-7216-FCD6-CB93A3877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8C190C-3808-B550-BC99-A2170EA73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8C648B2-8C42-1913-3756-D639B7D04F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A27A115-FF53-A179-C626-15AA63597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3B06192-9679-98C4-3750-F3C4F7E8C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032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41E6AFD-8D73-15F4-E945-65772595D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A73F5AF-AA87-8B33-36E6-A9EF7F5B84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1106D66-D0FB-517A-6B96-B563052E31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6CC447-3137-49B4-B905-C6BA2F4C5C89}" type="datetimeFigureOut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CFCA7E-5269-14C8-653D-1DCC457701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9E2F28-4E57-6234-26A3-8C81AC644E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DD4391E-BF28-403C-8AFE-FF1F538A228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2741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.wmf"/><Relationship Id="rId4" Type="http://schemas.openxmlformats.org/officeDocument/2006/relationships/oleObject" Target="../embeddings/oleObject2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8B0AA4-836E-B074-EE78-190C3BAEDE7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6EF110B-E28C-81E2-62A3-B91FC5D0297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4529D2F-062A-C776-DE0C-875C19C7EE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629" y="949325"/>
            <a:ext cx="1232266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06774C52-0124-54BF-5779-6851CF6C7A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29118605"/>
              </p:ext>
            </p:extLst>
          </p:nvPr>
        </p:nvGraphicFramePr>
        <p:xfrm>
          <a:off x="687629" y="949326"/>
          <a:ext cx="9477502" cy="8941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400" imgH="254000" progId="Equation.DSMT4">
                  <p:embed/>
                </p:oleObj>
              </mc:Choice>
              <mc:Fallback>
                <p:oleObj name="Equation" r:id="rId2" imgW="2692400" imgH="2540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629" y="949326"/>
                        <a:ext cx="9477502" cy="8941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>
            <a:extLst>
              <a:ext uri="{FF2B5EF4-FFF2-40B4-BE49-F238E27FC236}">
                <a16:creationId xmlns:a16="http://schemas.microsoft.com/office/drawing/2014/main" id="{00330C50-7022-D2A2-D674-2B7C75B3C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1187" y="4551779"/>
            <a:ext cx="262556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1A745287-7880-6D3D-4FFF-810114F6AB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02573426"/>
              </p:ext>
            </p:extLst>
          </p:nvPr>
        </p:nvGraphicFramePr>
        <p:xfrm>
          <a:off x="2001187" y="4551779"/>
          <a:ext cx="3924605" cy="127284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09700" imgH="457200" progId="Equation.DSMT4">
                  <p:embed/>
                </p:oleObj>
              </mc:Choice>
              <mc:Fallback>
                <p:oleObj name="Equation" r:id="rId4" imgW="1409700" imgH="457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1187" y="4551779"/>
                        <a:ext cx="3924605" cy="127284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166212C3-E1BE-BE41-340D-4E37F511EE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07392" y="667062"/>
            <a:ext cx="5957501" cy="44542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4662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9D798A-E284-C807-63B4-F7F612AE8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我还要在这里添加文字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F2111E12-0279-3887-F766-CC6A9B39DB4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0327223"/>
                  </p:ext>
                </p:extLst>
              </p:nvPr>
            </p:nvGraphicFramePr>
            <p:xfrm>
              <a:off x="838200" y="1825625"/>
              <a:ext cx="10515597" cy="18086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551274069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679312641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88551634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这是一个表格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zh-CN" altLang="en-US" sz="1800" i="1" smtClean="0"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  <m:r>
                                  <a:rPr lang="zh-CN" altLang="en-US" sz="1800" i="0">
                                    <a:latin typeface="Cambria Math" panose="02040503050406030204" pitchFamily="18" charset="0"/>
                                  </a:rPr>
                                  <m:t>=210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1800" b="0" i="1">
                                    <a:latin typeface="Cambria Math" panose="02040503050406030204" pitchFamily="18" charset="0"/>
                                  </a:rPr>
                                  <m:t> </m:t>
                                </m:r>
                                <m:r>
                                  <a:rPr lang="zh-CN" altLang="en-US" sz="1800" b="0" i="1">
                                    <a:latin typeface="Cambria Math" panose="02040503050406030204" pitchFamily="18" charset="0"/>
                                  </a:rPr>
                                  <m:t>𝐺𝑝𝑎</m:t>
                                </m:r>
                                <m:r>
                                  <a:rPr lang="zh-CN" altLang="en-US" sz="1800" b="0" i="0">
                                    <a:latin typeface="Cambria Math" panose="02040503050406030204" pitchFamily="18" charset="0"/>
                                  </a:rPr>
                                  <m:t>=2.1×</m:t>
                                </m:r>
                                <m:sSup>
                                  <m:sSupPr>
                                    <m:ctrlPr>
                                      <a:rPr lang="zh-CN" altLang="en-US" sz="18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zh-CN" altLang="en-US" sz="1800" b="0" i="0">
                                        <a:latin typeface="Cambria Math" panose="02040503050406030204" pitchFamily="18" charset="0"/>
                                      </a:rPr>
                                      <m:t>10</m:t>
                                    </m:r>
                                  </m:e>
                                  <m:sup>
                                    <m:r>
                                      <a:rPr lang="zh-CN" altLang="en-US" sz="1800" b="0" i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sup>
                                </m:sSup>
                                <m:sSup>
                                  <m:sSupPr>
                                    <m:ctrlPr>
                                      <a:rPr lang="zh-CN" altLang="en-US" sz="18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m:rPr>
                                        <m:nor/>
                                      </m:rPr>
                                      <a:rPr lang="zh-CN" altLang="en-US" sz="1800" b="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zh-CN" altLang="en-US" sz="1800" b="0" i="1">
                                        <a:latin typeface="Cambria Math" panose="02040503050406030204" pitchFamily="18" charset="0"/>
                                      </a:rPr>
                                      <m:t>N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zh-CN" altLang="en-US" sz="1800" b="0" i="1">
                                        <a:latin typeface="Cambria Math" panose="02040503050406030204" pitchFamily="18" charset="0"/>
                                      </a:rPr>
                                      <m:t>/</m:t>
                                    </m:r>
                                    <m:r>
                                      <m:rPr>
                                        <m:nor/>
                                      </m:rPr>
                                      <a:rPr lang="zh-CN" altLang="en-US" sz="1800" b="0" i="1">
                                        <a:latin typeface="Cambria Math" panose="02040503050406030204" pitchFamily="18" charset="0"/>
                                      </a:rPr>
                                      <m:t>mm</m:t>
                                    </m:r>
                                  </m:e>
                                  <m:sup>
                                    <m:r>
                                      <a:rPr lang="zh-CN" altLang="en-US" sz="1800" b="0" i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nor/>
                                  </m:rPr>
                                  <a:rPr lang="zh-CN" altLang="en-US" sz="1800" b="0" i="1">
                                    <a:latin typeface="Cambria Math" panose="02040503050406030204" pitchFamily="18" charset="0"/>
                                  </a:rPr>
                                  <m:t> (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1800" b="0" i="1">
                                    <a:latin typeface="Cambria Math" panose="02040503050406030204" pitchFamily="18" charset="0"/>
                                  </a:rPr>
                                  <m:t>MPa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1800" b="0" i="1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1800" dirty="0"/>
                        </a:p>
                        <a:p>
                          <a:r>
                            <a:rPr lang="zh-CN" altLang="en-US" dirty="0"/>
                            <a:t>这是表格里的公式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zh-CN" altLang="en-US" dirty="0"/>
                            <a:t>这是含</a:t>
                          </a:r>
                          <a:r>
                            <a:rPr lang="en-US" altLang="zh-CN" dirty="0"/>
                            <a:t>pi</a:t>
                          </a:r>
                          <a:r>
                            <a:rPr lang="zh-CN" altLang="en-US" dirty="0"/>
                            <a:t>的</a:t>
                          </a:r>
                          <a:r>
                            <a:rPr lang="en-US" altLang="zh-CN" dirty="0" err="1"/>
                            <a:t>Mathtype</a:t>
                          </a:r>
                          <a:r>
                            <a:rPr lang="zh-CN" altLang="en-US" dirty="0"/>
                            <a:t>公式：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zh-CN" alt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𝐷</m:t>
                                      </m:r>
                                    </m:e>
                                    <m:sup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num>
                                <m:den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64</m:t>
                                  </m:r>
                                </m:den>
                              </m:f>
                              <m:d>
                                <m:d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zh-CN" altLang="en-US" i="1">
                                          <a:latin typeface="Cambria Math" panose="02040503050406030204" pitchFamily="18" charset="0"/>
                                        </a:rPr>
                                        <m:t>𝛼</m:t>
                                      </m:r>
                                    </m:e>
                                    <m:sup>
                                      <m:r>
                                        <a:rPr lang="zh-CN" altLang="en-US" i="0">
                                          <a:latin typeface="Cambria Math" panose="02040503050406030204" pitchFamily="18" charset="0"/>
                                        </a:rPr>
                                        <m:t>4</m:t>
                                      </m:r>
                                    </m:sup>
                                  </m:sSup>
                                </m:e>
                              </m:d>
                            </m:oMath>
                          </a14:m>
                          <a:endParaRPr lang="zh-CN" altLang="en-US" dirty="0"/>
                        </a:p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5363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这是第二行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这是个含</a:t>
                          </a:r>
                          <a:r>
                            <a:rPr lang="en-US" altLang="zh-CN" dirty="0"/>
                            <a:t>pi</a:t>
                          </a:r>
                          <a:r>
                            <a:rPr lang="zh-CN" altLang="en-US" dirty="0"/>
                            <a:t>的复杂</a:t>
                          </a:r>
                          <a:r>
                            <a:rPr lang="en-US" altLang="zh-CN" dirty="0"/>
                            <a:t>office</a:t>
                          </a:r>
                          <a:r>
                            <a:rPr lang="zh-CN" altLang="en-US" dirty="0"/>
                            <a:t>公式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5950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68258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内容占位符 3">
                <a:extLst>
                  <a:ext uri="{FF2B5EF4-FFF2-40B4-BE49-F238E27FC236}">
                    <a16:creationId xmlns:a16="http://schemas.microsoft.com/office/drawing/2014/main" id="{F2111E12-0279-3887-F766-CC6A9B39DB44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160327223"/>
                  </p:ext>
                </p:extLst>
              </p:nvPr>
            </p:nvGraphicFramePr>
            <p:xfrm>
              <a:off x="838200" y="1825625"/>
              <a:ext cx="10515597" cy="1808607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505199">
                      <a:extLst>
                        <a:ext uri="{9D8B030D-6E8A-4147-A177-3AD203B41FA5}">
                          <a16:colId xmlns:a16="http://schemas.microsoft.com/office/drawing/2014/main" val="551274069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3679312641"/>
                        </a:ext>
                      </a:extLst>
                    </a:gridCol>
                    <a:gridCol w="3505199">
                      <a:extLst>
                        <a:ext uri="{9D8B030D-6E8A-4147-A177-3AD203B41FA5}">
                          <a16:colId xmlns:a16="http://schemas.microsoft.com/office/drawing/2014/main" val="885516344"/>
                        </a:ext>
                      </a:extLst>
                    </a:gridCol>
                  </a:tblGrid>
                  <a:tr h="1066927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这是一个表格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100000" t="-2841" r="-100521" b="-704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2"/>
                          <a:stretch>
                            <a:fillRect l="-200348" t="-2841" r="-696" b="-7045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536368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这是第二行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这是个含</a:t>
                          </a:r>
                          <a:r>
                            <a:rPr lang="en-US" altLang="zh-CN" dirty="0"/>
                            <a:t>pi</a:t>
                          </a:r>
                          <a:r>
                            <a:rPr lang="zh-CN" altLang="en-US" dirty="0"/>
                            <a:t>的复杂</a:t>
                          </a:r>
                          <a:r>
                            <a:rPr lang="en-US" altLang="zh-CN" dirty="0"/>
                            <a:t>office</a:t>
                          </a:r>
                          <a:r>
                            <a:rPr lang="zh-CN" altLang="en-US" dirty="0"/>
                            <a:t>公式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2595050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1682588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DC4D748C-1481-0DFE-BADF-1FFE300EE5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03" y="1481861"/>
            <a:ext cx="3610025" cy="48698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353C39-10FC-268E-6998-6409796E5AC2}"/>
                  </a:ext>
                </a:extLst>
              </p:cNvPr>
              <p:cNvSpPr txBox="1"/>
              <p:nvPr/>
            </p:nvSpPr>
            <p:spPr>
              <a:xfrm>
                <a:off x="431596" y="4542145"/>
                <a:ext cx="7179733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CN" altLang="en-US" sz="28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𝜏</m:t>
                          </m:r>
                        </m:e>
                      </m:d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345</m:t>
                          </m:r>
                        </m:num>
                        <m:den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2×2.5</m:t>
                          </m:r>
                        </m:den>
                      </m:f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345</m:t>
                          </m:r>
                        </m:num>
                        <m:den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=69</m:t>
                      </m:r>
                      <m:r>
                        <m:rPr>
                          <m:nor/>
                        </m:rPr>
                        <a:rPr lang="zh-CN" altLang="en-US" sz="2800" b="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zh-CN" altLang="en-US" sz="2800" b="0" i="1">
                          <a:latin typeface="Cambria Math" panose="02040503050406030204" pitchFamily="18" charset="0"/>
                        </a:rPr>
                        <m:t>MPa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D7353C39-10FC-268E-6998-6409796E5A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596" y="4542145"/>
                <a:ext cx="7179733" cy="91057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1F97CD5-234A-52A0-236C-67A5B43B94BA}"/>
                  </a:ext>
                </a:extLst>
              </p:cNvPr>
              <p:cNvSpPr txBox="1"/>
              <p:nvPr/>
            </p:nvSpPr>
            <p:spPr>
              <a:xfrm>
                <a:off x="6395860" y="593649"/>
                <a:ext cx="6397142" cy="120276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这是个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含有</m:t>
                          </m:r>
                          <m:r>
                            <m:rPr>
                              <m:sty m:val="p"/>
                            </m:rPr>
                            <a:rPr lang="en-US" altLang="zh-CN" i="1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sty m:val="p"/>
                            </m:rPr>
                            <a:rPr lang="en-US" altLang="zh-CN" i="1" smtClean="0">
                              <a:latin typeface="Cambria Math" panose="02040503050406030204" pitchFamily="18" charset="0"/>
                            </a:rPr>
                            <m:t>i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的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复杂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文本</m:t>
                          </m:r>
                          <m:r>
                            <a:rPr lang="zh-CN" altLang="en-US" i="1" smtClean="0">
                              <a:latin typeface="Cambria Math" panose="02040503050406030204" pitchFamily="18" charset="0"/>
                            </a:rPr>
                            <m:t>框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公式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𝑊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𝑧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d>
                            <m:d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𝐷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p>
                                <m:sSupPr>
                                  <m:ctrlP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zh-CN" altLang="en-US" i="1">
                                      <a:latin typeface="Cambria Math" panose="02040503050406030204" pitchFamily="18" charset="0"/>
                                    </a:rPr>
                                    <m:t>𝑑</m:t>
                                  </m:r>
                                </m:e>
                                <m:sup>
                                  <m:r>
                                    <a:rPr lang="zh-CN" altLang="en-US" i="0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sup>
                              </m:sSup>
                            </m:e>
                          </m:d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32</m:t>
                          </m:r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𝐷</m:t>
                          </m:r>
                        </m:den>
                      </m:f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32</m:t>
                          </m:r>
                        </m:den>
                      </m:f>
                      <m:d>
                        <m:d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i="0">
                              <a:latin typeface="Cambria Math" panose="02040503050406030204" pitchFamily="18" charset="0"/>
                            </a:rPr>
                            <m:t>1−</m:t>
                          </m:r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41F97CD5-234A-52A0-236C-67A5B43B94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5860" y="593649"/>
                <a:ext cx="6397142" cy="120276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75853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0A6A32D-4098-FB80-C4EC-F6B6B5C3CC55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𝜇</m:t>
                      </m:r>
                      <m:r>
                        <m:rPr>
                          <m:nor/>
                        </m:rPr>
                        <a:rPr lang="zh-CN" altLang="en-US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br>
                  <a:rPr lang="zh-CN" altLang="en-US" dirty="0"/>
                </a:br>
                <a:endParaRPr lang="zh-CN" altLang="en-US" dirty="0"/>
              </a:p>
            </p:txBody>
          </p:sp>
        </mc:Choice>
        <mc:Fallback xmlns="">
          <p:sp>
            <p:nvSpPr>
              <p:cNvPr id="2" name="标题 1">
                <a:extLst>
                  <a:ext uri="{FF2B5EF4-FFF2-40B4-BE49-F238E27FC236}">
                    <a16:creationId xmlns:a16="http://schemas.microsoft.com/office/drawing/2014/main" id="{C0A6A32D-4098-FB80-C4EC-F6B6B5C3CC5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74ED938-4FD7-5F9C-54A5-B54A283DD6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4" name="Object 17">
            <a:extLst>
              <a:ext uri="{FF2B5EF4-FFF2-40B4-BE49-F238E27FC236}">
                <a16:creationId xmlns:a16="http://schemas.microsoft.com/office/drawing/2014/main" id="{1B342DB5-3834-296E-ED24-716275E1CA3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1622425"/>
          <a:ext cx="6119812" cy="3897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1209822" imgH="1200150" progId="Equation.3">
                  <p:embed/>
                </p:oleObj>
              </mc:Choice>
              <mc:Fallback>
                <p:oleObj name="公式" r:id="rId3" imgW="1209822" imgH="1200150" progId="Equation.3">
                  <p:embed/>
                  <p:pic>
                    <p:nvPicPr>
                      <p:cNvPr id="69649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1622425"/>
                        <a:ext cx="6119812" cy="3897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097635C-F9A4-4A24-9D3D-33FD52A1235D}"/>
                  </a:ext>
                </a:extLst>
              </p:cNvPr>
              <p:cNvSpPr txBox="1"/>
              <p:nvPr/>
            </p:nvSpPr>
            <p:spPr>
              <a:xfrm>
                <a:off x="5561381" y="3429000"/>
                <a:ext cx="6104534" cy="95410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p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  <m:r>
                        <a:rPr lang="zh-CN" altLang="en-US" sz="2800" i="0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zh-CN" altLang="en-US" sz="28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800" i="1">
                              <a:latin typeface="Cambria Math" panose="02040503050406030204" pitchFamily="18" charset="0"/>
                            </a:rPr>
                            <m:t>𝑏</m:t>
                          </m:r>
                          <m:sSup>
                            <m:sSupPr>
                              <m:ctrlP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sz="28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p>
                              <m:r>
                                <a:rPr lang="zh-CN" altLang="en-US" sz="2800" i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zh-CN" altLang="en-US" sz="2800" i="0">
                              <a:latin typeface="Cambria Math" panose="02040503050406030204" pitchFamily="18" charset="0"/>
                            </a:rPr>
                            <m:t>12</m:t>
                          </m:r>
                        </m:den>
                      </m:f>
                    </m:oMath>
                  </m:oMathPara>
                </a14:m>
                <a:endParaRPr lang="zh-CN" altLang="en-US" sz="2800" dirty="0"/>
              </a:p>
            </p:txBody>
          </p:sp>
        </mc:Choice>
        <mc:Fallback xmlns=""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4097635C-F9A4-4A24-9D3D-33FD52A123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1381" y="3429000"/>
                <a:ext cx="6104534" cy="95410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60267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267645-26CE-019C-801A-0BF926597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11EFD6-3E79-E64B-0679-A963C6877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066061"/>
          </a:xfrm>
        </p:spPr>
        <p:txBody>
          <a:bodyPr/>
          <a:lstStyle/>
          <a:p>
            <a:r>
              <a:rPr lang="zh-CN" altLang="en-US" dirty="0"/>
              <a:t>这是一个无序列表</a:t>
            </a:r>
            <a:endParaRPr lang="en-US" altLang="zh-CN" dirty="0"/>
          </a:p>
          <a:p>
            <a:r>
              <a:rPr lang="zh-CN" altLang="en-US" dirty="0"/>
              <a:t>并且放在文本框里</a:t>
            </a:r>
            <a:endParaRPr lang="en-US" altLang="zh-CN" dirty="0"/>
          </a:p>
          <a:p>
            <a:r>
              <a:rPr lang="zh-CN" altLang="en-US" dirty="0"/>
              <a:t>你可以尝试一下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1A02FEF-DD80-1605-3DE7-6BFE498AAF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4682" y="264071"/>
            <a:ext cx="6162974" cy="4645854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78C60E0-C4EA-F626-CB94-D686FE58E3F3}"/>
              </a:ext>
            </a:extLst>
          </p:cNvPr>
          <p:cNvSpPr txBox="1"/>
          <p:nvPr/>
        </p:nvSpPr>
        <p:spPr>
          <a:xfrm>
            <a:off x="1075335" y="3760013"/>
            <a:ext cx="44550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这是一个有序列表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也是放在文本框里</a:t>
            </a:r>
            <a:endParaRPr lang="en-US" altLang="zh-CN" dirty="0"/>
          </a:p>
          <a:p>
            <a:pPr marL="342900" indent="-342900">
              <a:buFont typeface="+mj-lt"/>
              <a:buAutoNum type="arabicPeriod"/>
            </a:pPr>
            <a:r>
              <a:rPr lang="zh-CN" altLang="en-US" dirty="0"/>
              <a:t>要是能按从上到下的顺序提取就更好了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C7697B4-32D8-8B0B-FBAA-C6E792688A95}"/>
                  </a:ext>
                </a:extLst>
              </p:cNvPr>
              <p:cNvSpPr txBox="1"/>
              <p:nvPr/>
            </p:nvSpPr>
            <p:spPr>
              <a:xfrm>
                <a:off x="838200" y="5535241"/>
                <a:ext cx="6177686" cy="957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这还是一个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公式，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我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甚至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要在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前面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加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文本，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你说</m:t>
                      </m:r>
                      <m:r>
                        <a:rPr lang="zh-CN" altLang="en-US" i="1">
                          <a:latin typeface="Cambria Math" panose="02040503050406030204" pitchFamily="18" charset="0"/>
                        </a:rPr>
                        <m:t>贱不贱</m:t>
                      </m:r>
                      <m:r>
                        <a:rPr lang="zh-CN" altLang="en-US" i="1" smtClean="0">
                          <a:latin typeface="Cambria Math" panose="02040503050406030204" pitchFamily="18" charset="0"/>
                        </a:rPr>
                        <m:t>：</m:t>
                      </m:r>
                    </m:oMath>
                  </m:oMathPara>
                </a14:m>
                <a:endParaRPr lang="en-US" altLang="zh-CN" i="1" dirty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limLoc m:val="subSup"/>
                          <m:grow m:val="on"/>
                          <m:supHide m:val="on"/>
                          <m:ctrlPr>
                            <a:rPr lang="zh-CN" altLang="en-US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  <m:sup/>
                        <m:e>
                          <m:sSup>
                            <m:sSupPr>
                              <m:ctrlPr>
                                <a:rPr lang="zh-CN" altLang="en-US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zh-CN" altLang="en-US" i="1">
                                  <a:latin typeface="Cambria Math" panose="02040503050406030204" pitchFamily="18" charset="0"/>
                                </a:rPr>
                                <m:t>𝜌</m:t>
                              </m:r>
                            </m:e>
                            <m:sup>
                              <m:r>
                                <a:rPr lang="zh-CN" altLang="en-US" i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nary>
                      <m:r>
                        <a:rPr lang="zh-CN" altLang="en-US" i="1">
                          <a:latin typeface="Cambria Math" panose="02040503050406030204" pitchFamily="18" charset="0"/>
                        </a:rPr>
                        <m:t>𝑑𝐴</m:t>
                      </m:r>
                      <m:r>
                        <a:rPr lang="zh-CN" altLang="en-US" i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zh-CN" altLang="en-US" i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zh-CN" alt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𝐼</m:t>
                          </m:r>
                        </m:e>
                        <m:sub>
                          <m:r>
                            <a:rPr lang="zh-CN" altLang="en-US" i="1"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BC7697B4-32D8-8B0B-FBAA-C6E792688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5535241"/>
                <a:ext cx="6177686" cy="95763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7508F4C-2476-B0B1-C1E2-E92663E42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9660370"/>
                  </p:ext>
                </p:extLst>
              </p:nvPr>
            </p:nvGraphicFramePr>
            <p:xfrm>
              <a:off x="7666304" y="902513"/>
              <a:ext cx="4455066" cy="2857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7533">
                      <a:extLst>
                        <a:ext uri="{9D8B030D-6E8A-4147-A177-3AD203B41FA5}">
                          <a16:colId xmlns:a16="http://schemas.microsoft.com/office/drawing/2014/main" val="1390319262"/>
                        </a:ext>
                      </a:extLst>
                    </a:gridCol>
                    <a:gridCol w="2227533">
                      <a:extLst>
                        <a:ext uri="{9D8B030D-6E8A-4147-A177-3AD203B41FA5}">
                          <a16:colId xmlns:a16="http://schemas.microsoft.com/office/drawing/2014/main" val="590622627"/>
                        </a:ext>
                      </a:extLst>
                    </a:gridCol>
                  </a:tblGrid>
                  <a:tr h="95250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我甚至还要在里面插入表格</a:t>
                          </a:r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zh-CN" altLang="en-US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𝐼</m:t>
                                    </m:r>
                                  </m:e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sub>
                                </m:sSub>
                                <m:r>
                                  <a:rPr lang="zh-CN" altLang="en-US" i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nary>
                                  <m:naryPr>
                                    <m:limLoc m:val="subSup"/>
                                    <m:grow m:val="on"/>
                                    <m:ctrlP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𝐴</m:t>
                                    </m:r>
                                  </m:sub>
                                  <m:sup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sup>
                                  <m:e>
                                    <m:r>
                                      <a:rPr lang="zh-CN" altLang="en-US" i="1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</m:nary>
                                <m:r>
                                  <a:rPr lang="zh-CN" altLang="en-US" i="1">
                                    <a:latin typeface="Cambria Math" panose="02040503050406030204" pitchFamily="18" charset="0"/>
                                  </a:rPr>
                                  <m:t>𝐴</m:t>
                                </m:r>
                              </m:oMath>
                            </m:oMathPara>
                          </a14:m>
                          <a:endParaRPr lang="zh-CN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953743258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这是第二行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我甚至还要在上面插入图片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1688455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我甚至还要改变表格样式，好吧不好改，算了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50236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9" name="表格 8">
                <a:extLst>
                  <a:ext uri="{FF2B5EF4-FFF2-40B4-BE49-F238E27FC236}">
                    <a16:creationId xmlns:a16="http://schemas.microsoft.com/office/drawing/2014/main" id="{D7508F4C-2476-B0B1-C1E2-E92663E427C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29660370"/>
                  </p:ext>
                </p:extLst>
              </p:nvPr>
            </p:nvGraphicFramePr>
            <p:xfrm>
              <a:off x="7666304" y="902513"/>
              <a:ext cx="4455066" cy="285750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227533">
                      <a:extLst>
                        <a:ext uri="{9D8B030D-6E8A-4147-A177-3AD203B41FA5}">
                          <a16:colId xmlns:a16="http://schemas.microsoft.com/office/drawing/2014/main" val="1390319262"/>
                        </a:ext>
                      </a:extLst>
                    </a:gridCol>
                    <a:gridCol w="2227533">
                      <a:extLst>
                        <a:ext uri="{9D8B030D-6E8A-4147-A177-3AD203B41FA5}">
                          <a16:colId xmlns:a16="http://schemas.microsoft.com/office/drawing/2014/main" val="590622627"/>
                        </a:ext>
                      </a:extLst>
                    </a:gridCol>
                  </a:tblGrid>
                  <a:tr h="95250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我甚至还要在里面插入表格</a:t>
                          </a:r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>
                          <a:blip r:embed="rId4"/>
                          <a:stretch>
                            <a:fillRect l="-100273" t="-3205" r="-1093" b="-20705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53743258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这是第二行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我甚至还要在上面插入图片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151688455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r>
                            <a:rPr lang="en-US" altLang="zh-CN" dirty="0"/>
                            <a:t>3</a:t>
                          </a:r>
                          <a:endParaRPr lang="zh-CN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zh-CN" altLang="en-US" dirty="0"/>
                            <a:t>我甚至还要改变表格样式，好吧不好改，算了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81502366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0D30CCF2-80F3-CDEE-F6EB-777001F2B0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0989062"/>
              </p:ext>
            </p:extLst>
          </p:nvPr>
        </p:nvGraphicFramePr>
        <p:xfrm>
          <a:off x="2032001" y="719666"/>
          <a:ext cx="5890362" cy="2022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3454">
                  <a:extLst>
                    <a:ext uri="{9D8B030D-6E8A-4147-A177-3AD203B41FA5}">
                      <a16:colId xmlns:a16="http://schemas.microsoft.com/office/drawing/2014/main" val="4191025132"/>
                    </a:ext>
                  </a:extLst>
                </a:gridCol>
                <a:gridCol w="1963454">
                  <a:extLst>
                    <a:ext uri="{9D8B030D-6E8A-4147-A177-3AD203B41FA5}">
                      <a16:colId xmlns:a16="http://schemas.microsoft.com/office/drawing/2014/main" val="1742013222"/>
                    </a:ext>
                  </a:extLst>
                </a:gridCol>
                <a:gridCol w="1963454">
                  <a:extLst>
                    <a:ext uri="{9D8B030D-6E8A-4147-A177-3AD203B41FA5}">
                      <a16:colId xmlns:a16="http://schemas.microsoft.com/office/drawing/2014/main" val="1131503614"/>
                    </a:ext>
                  </a:extLst>
                </a:gridCol>
              </a:tblGrid>
              <a:tr h="1011054">
                <a:tc>
                  <a:txBody>
                    <a:bodyPr/>
                    <a:lstStyle/>
                    <a:p>
                      <a:r>
                        <a:rPr lang="zh-CN" altLang="en-US" dirty="0"/>
                        <a:t>我甚至还插了一个表格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这是第二列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这是一个二行三列表格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492475"/>
                  </a:ext>
                </a:extLst>
              </a:tr>
              <a:tr h="1011054">
                <a:tc>
                  <a:txBody>
                    <a:bodyPr/>
                    <a:lstStyle/>
                    <a:p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2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3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3727593"/>
                  </a:ext>
                </a:extLst>
              </a:tr>
            </a:tbl>
          </a:graphicData>
        </a:graphic>
      </p:graphicFrame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4F94C0F5-EC1F-37E5-A692-4D4B885AB3B9}"/>
              </a:ext>
            </a:extLst>
          </p:cNvPr>
          <p:cNvSpPr/>
          <p:nvPr/>
        </p:nvSpPr>
        <p:spPr>
          <a:xfrm>
            <a:off x="7776058" y="5018227"/>
            <a:ext cx="2457907" cy="124358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那我要是插入了形状，甚至在形状里面放上文字呢？</a:t>
            </a:r>
          </a:p>
        </p:txBody>
      </p:sp>
    </p:spTree>
    <p:extLst>
      <p:ext uri="{BB962C8B-B14F-4D97-AF65-F5344CB8AC3E}">
        <p14:creationId xmlns:p14="http://schemas.microsoft.com/office/powerpoint/2010/main" val="3635812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677DCD-10B6-8D43-45D9-FC9A76640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35A91B5B-9F5A-2837-5FA4-B0E7FAC2F8D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21991804"/>
              </p:ext>
            </p:extLst>
          </p:nvPr>
        </p:nvGraphicFramePr>
        <p:xfrm>
          <a:off x="1470355" y="2995574"/>
          <a:ext cx="1143000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0" imgH="254000" progId="Equation.DSMT4">
                  <p:embed/>
                </p:oleObj>
              </mc:Choice>
              <mc:Fallback>
                <p:oleObj name="Equation" r:id="rId2" imgW="1143000" imgH="2540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355" y="2995574"/>
                        <a:ext cx="1143000" cy="2540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52A74285-D91A-5769-8C05-D9F77DBDB95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01820840"/>
              </p:ext>
            </p:extLst>
          </p:nvPr>
        </p:nvGraphicFramePr>
        <p:xfrm>
          <a:off x="1470355" y="3706774"/>
          <a:ext cx="1625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600" imgH="431800" progId="Equation.DSMT4">
                  <p:embed/>
                </p:oleObj>
              </mc:Choice>
              <mc:Fallback>
                <p:oleObj name="Equation" r:id="rId4" imgW="1625600" imgH="431800" progId="Equation.DSMT4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0355" y="3706774"/>
                        <a:ext cx="16256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>
            <a:extLst>
              <a:ext uri="{FF2B5EF4-FFF2-40B4-BE49-F238E27FC236}">
                <a16:creationId xmlns:a16="http://schemas.microsoft.com/office/drawing/2014/main" id="{F406E695-4245-0113-3D8B-7388569757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355" y="25383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这是一个复杂的上下标公式：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6C8F707-D4D0-EB64-D525-476BC16E93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0355" y="3249574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这里还有个积分公式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290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243</Words>
  <Application>Microsoft Office PowerPoint</Application>
  <PresentationFormat>宽屏</PresentationFormat>
  <Paragraphs>34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等线</vt:lpstr>
      <vt:lpstr>等线 Light</vt:lpstr>
      <vt:lpstr>Arial</vt:lpstr>
      <vt:lpstr>Cambria Math</vt:lpstr>
      <vt:lpstr>Office 主题​​</vt:lpstr>
      <vt:lpstr>Equation</vt:lpstr>
      <vt:lpstr>公式</vt:lpstr>
      <vt:lpstr>MathType 7.0 Equation</vt:lpstr>
      <vt:lpstr>PowerPoint 演示文稿</vt:lpstr>
      <vt:lpstr>我还要在这里添加文字</vt:lpstr>
      <vt:lpstr>μ"=" 0.3 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SS S</dc:creator>
  <cp:lastModifiedBy>SS S</cp:lastModifiedBy>
  <cp:revision>8</cp:revision>
  <dcterms:created xsi:type="dcterms:W3CDTF">2026-07-14T15:46:57Z</dcterms:created>
  <dcterms:modified xsi:type="dcterms:W3CDTF">2026-07-17T10:25:46Z</dcterms:modified>
</cp:coreProperties>
</file>