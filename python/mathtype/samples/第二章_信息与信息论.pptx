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311" r:id="rId3"/>
    <p:sldId id="312" r:id="rId4"/>
    <p:sldId id="313" r:id="rId5"/>
    <p:sldId id="314" r:id="rId6"/>
    <p:sldId id="260" r:id="rId7"/>
    <p:sldId id="284" r:id="rId8"/>
    <p:sldId id="285" r:id="rId9"/>
    <p:sldId id="287" r:id="rId10"/>
    <p:sldId id="299" r:id="rId11"/>
    <p:sldId id="300" r:id="rId12"/>
    <p:sldId id="301" r:id="rId13"/>
    <p:sldId id="302" r:id="rId14"/>
    <p:sldId id="303" r:id="rId15"/>
    <p:sldId id="305" r:id="rId16"/>
    <p:sldId id="306" r:id="rId17"/>
    <p:sldId id="315" r:id="rId18"/>
    <p:sldId id="317" r:id="rId19"/>
    <p:sldId id="307" r:id="rId20"/>
    <p:sldId id="308" r:id="rId21"/>
    <p:sldId id="309" r:id="rId22"/>
    <p:sldId id="282" r:id="rId23"/>
  </p:sldIdLst>
  <p:sldSz cx="9144000" cy="6858000" type="screen4x3"/>
  <p:notesSz cx="6858000" cy="9144000"/>
  <p:defaultTextStyle>
    <a:defPPr>
      <a:defRPr lang="es-VE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CC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10" autoAdjust="0"/>
    <p:restoredTop sz="94667" autoAdjust="0"/>
  </p:normalViewPr>
  <p:slideViewPr>
    <p:cSldViewPr>
      <p:cViewPr varScale="1">
        <p:scale>
          <a:sx n="91" d="100"/>
          <a:sy n="91" d="100"/>
        </p:scale>
        <p:origin x="1579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fld id="{5255D82C-C54F-4B1E-A471-3EFB4FD35BB1}" type="datetimeFigureOut">
              <a:rPr lang="es-VE" altLang="zh-CN"/>
              <a:pPr>
                <a:defRPr/>
              </a:pPr>
              <a:t>6/5/2026</a:t>
            </a:fld>
            <a:endParaRPr lang="es-VE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VE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VE" altLang="zh-C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E512A04-1295-4C2E-8822-F97FEF5DA97C}" type="slidenum">
              <a:rPr lang="es-VE" altLang="zh-CN"/>
              <a:pPr>
                <a:defRPr/>
              </a:pPr>
              <a:t>‹#›</a:t>
            </a:fld>
            <a:endParaRPr lang="es-VE" altLang="zh-CN"/>
          </a:p>
        </p:txBody>
      </p:sp>
    </p:spTree>
    <p:extLst>
      <p:ext uri="{BB962C8B-B14F-4D97-AF65-F5344CB8AC3E}">
        <p14:creationId xmlns:p14="http://schemas.microsoft.com/office/powerpoint/2010/main" val="38038016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4898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0F16F0A6-04ED-4266-9F69-8601A74E2867}" type="slidenum">
              <a:rPr lang="es-VE" altLang="zh-CN" sz="1200" smtClean="0"/>
              <a:pPr/>
              <a:t>20</a:t>
            </a:fld>
            <a:endParaRPr lang="es-VE" altLang="zh-CN" sz="1200"/>
          </a:p>
        </p:txBody>
      </p:sp>
    </p:spTree>
    <p:extLst>
      <p:ext uri="{BB962C8B-B14F-4D97-AF65-F5344CB8AC3E}">
        <p14:creationId xmlns:p14="http://schemas.microsoft.com/office/powerpoint/2010/main" val="3871772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s-V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8C616B-4D1E-40E2-AF6F-6074ADF9048C}" type="datetimeFigureOut">
              <a:rPr lang="es-VE" altLang="zh-CN"/>
              <a:pPr>
                <a:defRPr/>
              </a:pPr>
              <a:t>6/5/2026</a:t>
            </a:fld>
            <a:endParaRPr lang="es-VE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D3DDB-CF77-419F-9152-9BEFF95E79FB}" type="slidenum">
              <a:rPr lang="es-VE" altLang="zh-CN"/>
              <a:pPr>
                <a:defRPr/>
              </a:pPr>
              <a:t>‹#›</a:t>
            </a:fld>
            <a:endParaRPr lang="es-VE" altLang="zh-CN"/>
          </a:p>
        </p:txBody>
      </p:sp>
    </p:spTree>
    <p:extLst>
      <p:ext uri="{BB962C8B-B14F-4D97-AF65-F5344CB8AC3E}">
        <p14:creationId xmlns:p14="http://schemas.microsoft.com/office/powerpoint/2010/main" val="14231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ECD972-CFB2-4DF1-B997-8EAD3DC03288}" type="datetimeFigureOut">
              <a:rPr lang="es-VE" altLang="zh-CN"/>
              <a:pPr>
                <a:defRPr/>
              </a:pPr>
              <a:t>6/5/2026</a:t>
            </a:fld>
            <a:endParaRPr lang="es-VE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752A07-71F2-4A5F-8AE3-A5738FF28801}" type="slidenum">
              <a:rPr lang="es-VE" altLang="zh-CN"/>
              <a:pPr>
                <a:defRPr/>
              </a:pPr>
              <a:t>‹#›</a:t>
            </a:fld>
            <a:endParaRPr lang="es-VE" altLang="zh-CN"/>
          </a:p>
        </p:txBody>
      </p:sp>
    </p:spTree>
    <p:extLst>
      <p:ext uri="{BB962C8B-B14F-4D97-AF65-F5344CB8AC3E}">
        <p14:creationId xmlns:p14="http://schemas.microsoft.com/office/powerpoint/2010/main" val="2285903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148C72-F40F-4084-8ACB-F7DB5B9F5D0D}" type="datetimeFigureOut">
              <a:rPr lang="es-VE" altLang="zh-CN"/>
              <a:pPr>
                <a:defRPr/>
              </a:pPr>
              <a:t>6/5/2026</a:t>
            </a:fld>
            <a:endParaRPr lang="es-VE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590720-96BC-465A-9475-E1BDDEE29877}" type="slidenum">
              <a:rPr lang="es-VE" altLang="zh-CN"/>
              <a:pPr>
                <a:defRPr/>
              </a:pPr>
              <a:t>‹#›</a:t>
            </a:fld>
            <a:endParaRPr lang="es-VE" altLang="zh-CN"/>
          </a:p>
        </p:txBody>
      </p:sp>
    </p:spTree>
    <p:extLst>
      <p:ext uri="{BB962C8B-B14F-4D97-AF65-F5344CB8AC3E}">
        <p14:creationId xmlns:p14="http://schemas.microsoft.com/office/powerpoint/2010/main" val="3303069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CE5E32-38D0-4258-9C8F-6CBDF8FB1353}" type="datetimeFigureOut">
              <a:rPr lang="es-VE" altLang="zh-CN"/>
              <a:pPr>
                <a:defRPr/>
              </a:pPr>
              <a:t>6/5/2026</a:t>
            </a:fld>
            <a:endParaRPr lang="es-VE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0EC85A-D193-4574-B3A5-FE45F1B59EB0}" type="slidenum">
              <a:rPr lang="es-VE" altLang="zh-CN"/>
              <a:pPr>
                <a:defRPr/>
              </a:pPr>
              <a:t>‹#›</a:t>
            </a:fld>
            <a:endParaRPr lang="es-VE" altLang="zh-CN"/>
          </a:p>
        </p:txBody>
      </p:sp>
    </p:spTree>
    <p:extLst>
      <p:ext uri="{BB962C8B-B14F-4D97-AF65-F5344CB8AC3E}">
        <p14:creationId xmlns:p14="http://schemas.microsoft.com/office/powerpoint/2010/main" val="300800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E715EA-5112-4F31-82E7-78C59A667837}" type="datetimeFigureOut">
              <a:rPr lang="es-VE" altLang="zh-CN"/>
              <a:pPr>
                <a:defRPr/>
              </a:pPr>
              <a:t>6/5/2026</a:t>
            </a:fld>
            <a:endParaRPr lang="es-VE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0B000-E69A-45E3-8133-AD78F7402D5E}" type="slidenum">
              <a:rPr lang="es-VE" altLang="zh-CN"/>
              <a:pPr>
                <a:defRPr/>
              </a:pPr>
              <a:t>‹#›</a:t>
            </a:fld>
            <a:endParaRPr lang="es-VE" altLang="zh-CN"/>
          </a:p>
        </p:txBody>
      </p:sp>
    </p:spTree>
    <p:extLst>
      <p:ext uri="{BB962C8B-B14F-4D97-AF65-F5344CB8AC3E}">
        <p14:creationId xmlns:p14="http://schemas.microsoft.com/office/powerpoint/2010/main" val="2967489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6A1B9E-6A68-46B7-9EF0-E039E99284C2}" type="datetimeFigureOut">
              <a:rPr lang="es-VE" altLang="zh-CN"/>
              <a:pPr>
                <a:defRPr/>
              </a:pPr>
              <a:t>6/5/2026</a:t>
            </a:fld>
            <a:endParaRPr lang="es-VE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14F08-A2D7-494F-9164-9BFF3C7760BE}" type="slidenum">
              <a:rPr lang="es-VE" altLang="zh-CN"/>
              <a:pPr>
                <a:defRPr/>
              </a:pPr>
              <a:t>‹#›</a:t>
            </a:fld>
            <a:endParaRPr lang="es-VE" altLang="zh-CN"/>
          </a:p>
        </p:txBody>
      </p:sp>
    </p:spTree>
    <p:extLst>
      <p:ext uri="{BB962C8B-B14F-4D97-AF65-F5344CB8AC3E}">
        <p14:creationId xmlns:p14="http://schemas.microsoft.com/office/powerpoint/2010/main" val="829294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DCB461-1BB3-47C9-9CF6-18DCEA385664}" type="datetimeFigureOut">
              <a:rPr lang="es-VE" altLang="zh-CN"/>
              <a:pPr>
                <a:defRPr/>
              </a:pPr>
              <a:t>6/5/2026</a:t>
            </a:fld>
            <a:endParaRPr lang="es-VE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EB545D-CC2B-46DA-AFE7-0B51BB091275}" type="slidenum">
              <a:rPr lang="es-VE" altLang="zh-CN"/>
              <a:pPr>
                <a:defRPr/>
              </a:pPr>
              <a:t>‹#›</a:t>
            </a:fld>
            <a:endParaRPr lang="es-VE" altLang="zh-CN"/>
          </a:p>
        </p:txBody>
      </p:sp>
    </p:spTree>
    <p:extLst>
      <p:ext uri="{BB962C8B-B14F-4D97-AF65-F5344CB8AC3E}">
        <p14:creationId xmlns:p14="http://schemas.microsoft.com/office/powerpoint/2010/main" val="1279456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AF1284-0943-4E22-8EB5-B08760DBF3A0}" type="datetimeFigureOut">
              <a:rPr lang="es-VE" altLang="zh-CN"/>
              <a:pPr>
                <a:defRPr/>
              </a:pPr>
              <a:t>6/5/2026</a:t>
            </a:fld>
            <a:endParaRPr lang="es-VE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D3925-B1F0-4BE2-BBED-FF95285D6438}" type="slidenum">
              <a:rPr lang="es-VE" altLang="zh-CN"/>
              <a:pPr>
                <a:defRPr/>
              </a:pPr>
              <a:t>‹#›</a:t>
            </a:fld>
            <a:endParaRPr lang="es-VE" altLang="zh-CN"/>
          </a:p>
        </p:txBody>
      </p:sp>
    </p:spTree>
    <p:extLst>
      <p:ext uri="{BB962C8B-B14F-4D97-AF65-F5344CB8AC3E}">
        <p14:creationId xmlns:p14="http://schemas.microsoft.com/office/powerpoint/2010/main" val="443295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V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9335D-87CF-4A29-98E5-71007CAD7FC1}" type="datetimeFigureOut">
              <a:rPr lang="es-VE" altLang="zh-CN"/>
              <a:pPr>
                <a:defRPr/>
              </a:pPr>
              <a:t>6/5/2026</a:t>
            </a:fld>
            <a:endParaRPr lang="es-VE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73BB61-BF43-4DD3-B179-03E839E0269A}" type="slidenum">
              <a:rPr lang="es-VE" altLang="zh-CN"/>
              <a:pPr>
                <a:defRPr/>
              </a:pPr>
              <a:t>‹#›</a:t>
            </a:fld>
            <a:endParaRPr lang="es-VE" altLang="zh-CN"/>
          </a:p>
        </p:txBody>
      </p:sp>
    </p:spTree>
    <p:extLst>
      <p:ext uri="{BB962C8B-B14F-4D97-AF65-F5344CB8AC3E}">
        <p14:creationId xmlns:p14="http://schemas.microsoft.com/office/powerpoint/2010/main" val="2372603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0D2768-F484-4825-A853-D8C05847405E}" type="datetimeFigureOut">
              <a:rPr lang="es-VE" altLang="zh-CN"/>
              <a:pPr>
                <a:defRPr/>
              </a:pPr>
              <a:t>6/5/2026</a:t>
            </a:fld>
            <a:endParaRPr lang="es-VE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3BE6DD-985C-479C-8E76-11C2DD567E77}" type="slidenum">
              <a:rPr lang="es-VE" altLang="zh-CN"/>
              <a:pPr>
                <a:defRPr/>
              </a:pPr>
              <a:t>‹#›</a:t>
            </a:fld>
            <a:endParaRPr lang="es-VE" altLang="zh-CN"/>
          </a:p>
        </p:txBody>
      </p:sp>
    </p:spTree>
    <p:extLst>
      <p:ext uri="{BB962C8B-B14F-4D97-AF65-F5344CB8AC3E}">
        <p14:creationId xmlns:p14="http://schemas.microsoft.com/office/powerpoint/2010/main" val="1995421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DE0EA2-AEA0-44B6-B555-2B076FBA534C}" type="datetimeFigureOut">
              <a:rPr lang="es-VE" altLang="zh-CN"/>
              <a:pPr>
                <a:defRPr/>
              </a:pPr>
              <a:t>6/5/2026</a:t>
            </a:fld>
            <a:endParaRPr lang="es-VE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EFD9BC-45D7-4122-978C-002421E3C619}" type="slidenum">
              <a:rPr lang="es-VE" altLang="zh-CN"/>
              <a:pPr>
                <a:defRPr/>
              </a:pPr>
              <a:t>‹#›</a:t>
            </a:fld>
            <a:endParaRPr lang="es-VE" altLang="zh-CN"/>
          </a:p>
        </p:txBody>
      </p:sp>
    </p:spTree>
    <p:extLst>
      <p:ext uri="{BB962C8B-B14F-4D97-AF65-F5344CB8AC3E}">
        <p14:creationId xmlns:p14="http://schemas.microsoft.com/office/powerpoint/2010/main" val="2330784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C89FC4-FD08-4C1F-B42D-C58F3A2A24AC}" type="datetimeFigureOut">
              <a:rPr lang="es-VE" altLang="zh-CN"/>
              <a:pPr>
                <a:defRPr/>
              </a:pPr>
              <a:t>6/5/2026</a:t>
            </a:fld>
            <a:endParaRPr lang="es-VE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44A9D5-42F4-4B30-A9A5-DC524E5B664E}" type="slidenum">
              <a:rPr lang="es-VE" altLang="zh-CN"/>
              <a:pPr>
                <a:defRPr/>
              </a:pPr>
              <a:t>‹#›</a:t>
            </a:fld>
            <a:endParaRPr lang="es-VE" altLang="zh-CN"/>
          </a:p>
        </p:txBody>
      </p:sp>
    </p:spTree>
    <p:extLst>
      <p:ext uri="{BB962C8B-B14F-4D97-AF65-F5344CB8AC3E}">
        <p14:creationId xmlns:p14="http://schemas.microsoft.com/office/powerpoint/2010/main" val="3979006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  <a:endParaRPr lang="es-VE" altLang="zh-C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s-VE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solidFill>
                  <a:srgbClr val="898989"/>
                </a:solidFill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fld id="{822D1C57-3D9F-48C5-BE89-C0E4E9E41C70}" type="datetimeFigureOut">
              <a:rPr lang="es-VE" altLang="zh-CN"/>
              <a:pPr>
                <a:defRPr/>
              </a:pPr>
              <a:t>6/5/2026</a:t>
            </a:fld>
            <a:endParaRPr lang="es-VE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E89059D-3C04-47E0-8376-6ED41974E4AB}" type="slidenum">
              <a:rPr lang="es-VE" altLang="zh-CN"/>
              <a:pPr>
                <a:defRPr/>
              </a:pPr>
              <a:t>‹#›</a:t>
            </a:fld>
            <a:endParaRPr lang="es-VE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image" Target="../media/image20.png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9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image" Target="../media/image21.wmf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3.bin"/><Relationship Id="rId14" Type="http://schemas.openxmlformats.org/officeDocument/2006/relationships/oleObject" Target="../embeddings/oleObject15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11" Type="http://schemas.openxmlformats.org/officeDocument/2006/relationships/image" Target="../media/image25.jpe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21.bin"/><Relationship Id="rId18" Type="http://schemas.openxmlformats.org/officeDocument/2006/relationships/oleObject" Target="../embeddings/oleObject23.bin"/><Relationship Id="rId3" Type="http://schemas.openxmlformats.org/officeDocument/2006/relationships/oleObject" Target="../embeddings/oleObject16.bin"/><Relationship Id="rId21" Type="http://schemas.openxmlformats.org/officeDocument/2006/relationships/image" Target="../media/image34.wmf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30.wmf"/><Relationship Id="rId17" Type="http://schemas.openxmlformats.org/officeDocument/2006/relationships/image" Target="../media/image33.png"/><Relationship Id="rId2" Type="http://schemas.openxmlformats.org/officeDocument/2006/relationships/image" Target="../media/image2.png"/><Relationship Id="rId16" Type="http://schemas.openxmlformats.org/officeDocument/2006/relationships/image" Target="../media/image32.wmf"/><Relationship Id="rId20" Type="http://schemas.openxmlformats.org/officeDocument/2006/relationships/oleObject" Target="../embeddings/oleObject24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23" Type="http://schemas.openxmlformats.org/officeDocument/2006/relationships/image" Target="../media/image35.png"/><Relationship Id="rId10" Type="http://schemas.openxmlformats.org/officeDocument/2006/relationships/image" Target="../media/image29.wmf"/><Relationship Id="rId19" Type="http://schemas.openxmlformats.org/officeDocument/2006/relationships/image" Target="../media/image33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31.wmf"/><Relationship Id="rId22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1.wmf"/><Relationship Id="rId3" Type="http://schemas.openxmlformats.org/officeDocument/2006/relationships/image" Target="../media/image2.png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28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40.wmf"/><Relationship Id="rId5" Type="http://schemas.openxmlformats.org/officeDocument/2006/relationships/image" Target="../media/image36.wmf"/><Relationship Id="rId15" Type="http://schemas.openxmlformats.org/officeDocument/2006/relationships/image" Target="../media/image43.png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9.png"/><Relationship Id="rId1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image" Target="../media/image47.png"/><Relationship Id="rId7" Type="http://schemas.openxmlformats.org/officeDocument/2006/relationships/oleObject" Target="../embeddings/oleObject30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8" descr="C:\Users\Monica Hernandez\Documents\Mis archivos recibidos\joi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71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 Box 5"/>
          <p:cNvSpPr txBox="1">
            <a:spLocks noChangeArrowheads="1"/>
          </p:cNvSpPr>
          <p:nvPr/>
        </p:nvSpPr>
        <p:spPr bwMode="auto">
          <a:xfrm>
            <a:off x="1835150" y="1916113"/>
            <a:ext cx="568960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4800" b="1" dirty="0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机械工程测试技术</a:t>
            </a:r>
          </a:p>
        </p:txBody>
      </p:sp>
      <p:sp>
        <p:nvSpPr>
          <p:cNvPr id="3076" name="Text Box 6"/>
          <p:cNvSpPr txBox="1">
            <a:spLocks noChangeArrowheads="1"/>
          </p:cNvSpPr>
          <p:nvPr/>
        </p:nvSpPr>
        <p:spPr bwMode="auto">
          <a:xfrm>
            <a:off x="1763713" y="3724275"/>
            <a:ext cx="49672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zh-CN" altLang="en-US" sz="3600">
                <a:solidFill>
                  <a:srgbClr val="FFCC00"/>
                </a:solidFill>
                <a:latin typeface="Arial" panose="020B0604020202020204" pitchFamily="34" charset="0"/>
              </a:rPr>
              <a:t>第二章  信息与信息论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34925" y="92075"/>
            <a:ext cx="2881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信息与信息论</a:t>
            </a:r>
          </a:p>
        </p:txBody>
      </p:sp>
      <p:sp>
        <p:nvSpPr>
          <p:cNvPr id="5124" name="Text Box 1028"/>
          <p:cNvSpPr txBox="1">
            <a:spLocks noChangeArrowheads="1"/>
          </p:cNvSpPr>
          <p:nvPr/>
        </p:nvSpPr>
        <p:spPr bwMode="auto">
          <a:xfrm>
            <a:off x="4102100" y="1341438"/>
            <a:ext cx="3206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cs typeface="Arial" panose="020B0604020202020204" pitchFamily="34" charset="0"/>
              </a:rPr>
              <a:t>( </a:t>
            </a:r>
            <a:r>
              <a:rPr kumimoji="1" lang="en-US" altLang="zh-CN" sz="2400">
                <a:latin typeface="Times New Roman" panose="02020603050405020304" pitchFamily="18" charset="0"/>
                <a:cs typeface="Arial" panose="020B0604020202020204" pitchFamily="34" charset="0"/>
              </a:rPr>
              <a:t>Shannon, 1916－2001)</a:t>
            </a:r>
          </a:p>
        </p:txBody>
      </p:sp>
      <p:sp>
        <p:nvSpPr>
          <p:cNvPr id="5125" name="Text Box 1029"/>
          <p:cNvSpPr txBox="1">
            <a:spLocks noChangeArrowheads="1"/>
          </p:cNvSpPr>
          <p:nvPr/>
        </p:nvSpPr>
        <p:spPr bwMode="auto">
          <a:xfrm>
            <a:off x="1127125" y="5146675"/>
            <a:ext cx="71024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latin typeface="Times New Roman" panose="02020603050405020304" pitchFamily="18" charset="0"/>
                <a:cs typeface="Arial" panose="020B0604020202020204" pitchFamily="34" charset="0"/>
              </a:rPr>
              <a:t>“ A Mathematical Theory of Communication ”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latin typeface="Times New Roman" panose="02020603050405020304" pitchFamily="18" charset="0"/>
                <a:cs typeface="Arial" panose="020B0604020202020204" pitchFamily="34" charset="0"/>
              </a:rPr>
              <a:t>“  Communication Theory of Secrecy System  ”</a:t>
            </a:r>
          </a:p>
        </p:txBody>
      </p:sp>
      <p:pic>
        <p:nvPicPr>
          <p:cNvPr id="512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908050"/>
            <a:ext cx="2867025" cy="354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7" name="Text Box 13"/>
          <p:cNvSpPr txBox="1">
            <a:spLocks noChangeArrowheads="1"/>
          </p:cNvSpPr>
          <p:nvPr/>
        </p:nvSpPr>
        <p:spPr bwMode="auto">
          <a:xfrm>
            <a:off x="4284663" y="2389188"/>
            <a:ext cx="3455987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/>
              <a:t>克劳德</a:t>
            </a:r>
            <a:r>
              <a:rPr lang="en-US" altLang="zh-CN"/>
              <a:t>·</a:t>
            </a:r>
            <a:r>
              <a:rPr lang="zh-CN" altLang="en-US"/>
              <a:t>艾尔伍德</a:t>
            </a:r>
            <a:r>
              <a:rPr lang="en-US" altLang="zh-CN"/>
              <a:t>·</a:t>
            </a:r>
            <a:r>
              <a:rPr lang="zh-CN" altLang="en-US"/>
              <a:t>山农</a:t>
            </a:r>
            <a:r>
              <a:rPr lang="en-US" altLang="zh-CN"/>
              <a:t>(</a:t>
            </a:r>
            <a:r>
              <a:rPr lang="zh-CN" altLang="en-US"/>
              <a:t>香农</a:t>
            </a:r>
            <a:r>
              <a:rPr lang="en-US" altLang="zh-CN"/>
              <a:t>)</a:t>
            </a:r>
          </a:p>
        </p:txBody>
      </p:sp>
      <p:sp>
        <p:nvSpPr>
          <p:cNvPr id="5128" name="Rectangle 14"/>
          <p:cNvSpPr>
            <a:spLocks noChangeArrowheads="1"/>
          </p:cNvSpPr>
          <p:nvPr/>
        </p:nvSpPr>
        <p:spPr bwMode="auto">
          <a:xfrm>
            <a:off x="3276600" y="3713163"/>
            <a:ext cx="5692775" cy="5794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133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s-VE"/>
              <a:t>美国数学家、信息论的创始人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468313" y="909638"/>
            <a:ext cx="8210550" cy="57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cs typeface="Arial" panose="020B0604020202020204" pitchFamily="34" charset="0"/>
              </a:rPr>
              <a:t>About Claude Elwood Shannon: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cs typeface="Arial" panose="020B0604020202020204" pitchFamily="34" charset="0"/>
              </a:rPr>
              <a:t>       </a:t>
            </a:r>
            <a:r>
              <a:rPr kumimoji="1" lang="en-US" altLang="zh-CN" sz="2400" b="1">
                <a:latin typeface="Times New Roman" panose="02020603050405020304" pitchFamily="18" charset="0"/>
                <a:cs typeface="Arial" panose="020B0604020202020204" pitchFamily="34" charset="0"/>
              </a:rPr>
              <a:t>1916</a:t>
            </a:r>
            <a:r>
              <a:rPr kumimoji="1" lang="zh-CN" altLang="en-US" sz="2400" b="1">
                <a:latin typeface="Times New Roman" panose="02020603050405020304" pitchFamily="18" charset="0"/>
                <a:cs typeface="Arial" panose="020B0604020202020204" pitchFamily="34" charset="0"/>
              </a:rPr>
              <a:t>年生于</a:t>
            </a:r>
            <a:r>
              <a:rPr kumimoji="1" lang="en-US" altLang="zh-CN" sz="2400" b="1">
                <a:latin typeface="Times New Roman" panose="02020603050405020304" pitchFamily="18" charset="0"/>
                <a:cs typeface="Arial" panose="020B0604020202020204" pitchFamily="34" charset="0"/>
              </a:rPr>
              <a:t> Gaylord, MI </a:t>
            </a:r>
            <a:r>
              <a:rPr kumimoji="1" lang="zh-CN" altLang="en-US" sz="2400" b="1">
                <a:latin typeface="Times New Roman" panose="02020603050405020304" pitchFamily="18" charset="0"/>
                <a:cs typeface="Arial" panose="020B0604020202020204" pitchFamily="34" charset="0"/>
              </a:rPr>
              <a:t>的一个小镇。母亲是一个语言教师和中学校长，父亲是一个商人。</a:t>
            </a:r>
            <a:endParaRPr kumimoji="1" lang="en-US" altLang="zh-CN" sz="2400" b="1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cs typeface="Arial" panose="020B0604020202020204" pitchFamily="34" charset="0"/>
              </a:rPr>
              <a:t>       16</a:t>
            </a:r>
            <a:r>
              <a:rPr kumimoji="1" lang="zh-CN" altLang="en-US" sz="2400" b="1">
                <a:latin typeface="Times New Roman" panose="02020603050405020304" pitchFamily="18" charset="0"/>
                <a:cs typeface="Arial" panose="020B0604020202020204" pitchFamily="34" charset="0"/>
              </a:rPr>
              <a:t>岁高中毕业，进入密西根大学。1936年获得电子工程和数学双学士学位。随后进入 </a:t>
            </a:r>
            <a:r>
              <a:rPr kumimoji="1" lang="en-US" altLang="zh-CN" sz="2400" b="1">
                <a:latin typeface="Times New Roman" panose="02020603050405020304" pitchFamily="18" charset="0"/>
                <a:cs typeface="Arial" panose="020B0604020202020204" pitchFamily="34" charset="0"/>
              </a:rPr>
              <a:t>MIT，</a:t>
            </a:r>
            <a:r>
              <a:rPr kumimoji="1" lang="zh-CN" altLang="en-US" sz="2400" b="1">
                <a:latin typeface="Times New Roman" panose="02020603050405020304" pitchFamily="18" charset="0"/>
                <a:cs typeface="Arial" panose="020B0604020202020204" pitchFamily="34" charset="0"/>
              </a:rPr>
              <a:t>作为研究生和研究人员。一年后，完成布尔代数用于开关电路的硕士论文。1940年完成“关于遗传学的代数”的博士论文。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cs typeface="Arial" panose="020B0604020202020204" pitchFamily="34" charset="0"/>
              </a:rPr>
              <a:t>       1941年以后进入 </a:t>
            </a:r>
            <a:r>
              <a:rPr kumimoji="1" lang="en-US" altLang="zh-CN" sz="2400" b="1">
                <a:latin typeface="Times New Roman" panose="02020603050405020304" pitchFamily="18" charset="0"/>
                <a:cs typeface="Arial" panose="020B0604020202020204" pitchFamily="34" charset="0"/>
              </a:rPr>
              <a:t>Bell </a:t>
            </a:r>
            <a:r>
              <a:rPr kumimoji="1" lang="zh-CN" altLang="en-US" sz="2400" b="1">
                <a:latin typeface="Times New Roman" panose="02020603050405020304" pitchFamily="18" charset="0"/>
                <a:cs typeface="Arial" panose="020B0604020202020204" pitchFamily="34" charset="0"/>
              </a:rPr>
              <a:t>实验室。(新理论和技术的摇篮)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cs typeface="Arial" panose="020B0604020202020204" pitchFamily="34" charset="0"/>
              </a:rPr>
              <a:t>        1945年写出“密码学的数学理论”，1949年正式出版，名为“保密系统的通信理论”。1948年发表“通信系统的数学理论”。其后又取得通信、人工智能等多方面的成果。</a:t>
            </a:r>
          </a:p>
        </p:txBody>
      </p:sp>
      <p:sp>
        <p:nvSpPr>
          <p:cNvPr id="6148" name="Text Box 10"/>
          <p:cNvSpPr txBox="1">
            <a:spLocks noChangeArrowheads="1"/>
          </p:cNvSpPr>
          <p:nvPr/>
        </p:nvSpPr>
        <p:spPr bwMode="auto">
          <a:xfrm>
            <a:off x="34925" y="92075"/>
            <a:ext cx="2881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信息与信息论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Text Box 1028"/>
          <p:cNvSpPr txBox="1">
            <a:spLocks noChangeArrowheads="1"/>
          </p:cNvSpPr>
          <p:nvPr/>
        </p:nvSpPr>
        <p:spPr bwMode="auto">
          <a:xfrm>
            <a:off x="4454525" y="1341438"/>
            <a:ext cx="2781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cs typeface="Arial" panose="020B0604020202020204" pitchFamily="34" charset="0"/>
              </a:rPr>
              <a:t>Wiener</a:t>
            </a:r>
            <a:r>
              <a:rPr kumimoji="1" lang="zh-CN" altLang="en-US" sz="2400">
                <a:latin typeface="Times New Roman" panose="02020603050405020304" pitchFamily="18" charset="0"/>
                <a:cs typeface="Arial" panose="020B0604020202020204" pitchFamily="34" charset="0"/>
              </a:rPr>
              <a:t>，</a:t>
            </a:r>
            <a:r>
              <a:rPr kumimoji="1" lang="en-US" altLang="zh-CN" sz="2400">
                <a:latin typeface="Times New Roman" panose="02020603050405020304" pitchFamily="18" charset="0"/>
                <a:cs typeface="Arial" panose="020B0604020202020204" pitchFamily="34" charset="0"/>
              </a:rPr>
              <a:t>1894-1964 </a:t>
            </a:r>
          </a:p>
        </p:txBody>
      </p:sp>
      <p:sp>
        <p:nvSpPr>
          <p:cNvPr id="7172" name="Text Box 7"/>
          <p:cNvSpPr txBox="1">
            <a:spLocks noChangeArrowheads="1"/>
          </p:cNvSpPr>
          <p:nvPr/>
        </p:nvSpPr>
        <p:spPr bwMode="auto">
          <a:xfrm>
            <a:off x="4787900" y="2349500"/>
            <a:ext cx="2735263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/>
              <a:t>诺伯特</a:t>
            </a:r>
            <a:r>
              <a:rPr lang="en-US" altLang="zh-CN"/>
              <a:t>·</a:t>
            </a:r>
            <a:r>
              <a:rPr lang="zh-CN" altLang="en-US"/>
              <a:t>维纳 </a:t>
            </a:r>
            <a:endParaRPr lang="en-US" altLang="zh-CN"/>
          </a:p>
        </p:txBody>
      </p:sp>
      <p:sp>
        <p:nvSpPr>
          <p:cNvPr id="7173" name="Rectangle 8"/>
          <p:cNvSpPr>
            <a:spLocks noChangeArrowheads="1"/>
          </p:cNvSpPr>
          <p:nvPr/>
        </p:nvSpPr>
        <p:spPr bwMode="auto">
          <a:xfrm>
            <a:off x="3276600" y="3713163"/>
            <a:ext cx="5692775" cy="5794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133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s-VE"/>
              <a:t>美国数学家、控制论的创始人 </a:t>
            </a:r>
          </a:p>
        </p:txBody>
      </p:sp>
      <p:pic>
        <p:nvPicPr>
          <p:cNvPr id="7174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836613"/>
            <a:ext cx="2894012" cy="381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5" name="Rectangle 10"/>
          <p:cNvSpPr>
            <a:spLocks noChangeArrowheads="1"/>
          </p:cNvSpPr>
          <p:nvPr/>
        </p:nvSpPr>
        <p:spPr bwMode="auto">
          <a:xfrm>
            <a:off x="539750" y="5373688"/>
            <a:ext cx="84042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VE" altLang="zh-CN"/>
              <a:t>《</a:t>
            </a:r>
            <a:r>
              <a:rPr lang="zh-CN" altLang="es-VE"/>
              <a:t>控制论</a:t>
            </a:r>
            <a:r>
              <a:rPr lang="es-VE" altLang="zh-CN"/>
              <a:t>》《</a:t>
            </a:r>
            <a:r>
              <a:rPr lang="zh-CN" altLang="es-VE"/>
              <a:t>维纳选集</a:t>
            </a:r>
            <a:r>
              <a:rPr lang="es-VE" altLang="zh-CN"/>
              <a:t>》《</a:t>
            </a:r>
            <a:r>
              <a:rPr lang="zh-CN" altLang="es-VE"/>
              <a:t>维纳数学论文集</a:t>
            </a:r>
            <a:r>
              <a:rPr lang="es-VE" altLang="zh-CN"/>
              <a:t>》 </a:t>
            </a:r>
          </a:p>
        </p:txBody>
      </p:sp>
      <p:sp>
        <p:nvSpPr>
          <p:cNvPr id="7176" name="Text Box 11"/>
          <p:cNvSpPr txBox="1">
            <a:spLocks noChangeArrowheads="1"/>
          </p:cNvSpPr>
          <p:nvPr/>
        </p:nvSpPr>
        <p:spPr bwMode="auto">
          <a:xfrm>
            <a:off x="34925" y="92075"/>
            <a:ext cx="2881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信息与信息论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468313" y="487363"/>
            <a:ext cx="8210550" cy="637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cs typeface="Arial" panose="020B0604020202020204" pitchFamily="34" charset="0"/>
              </a:rPr>
              <a:t>About Norbert Wiener</a:t>
            </a:r>
            <a:r>
              <a:rPr kumimoji="1" lang="en-US" altLang="zh-CN">
                <a:cs typeface="Arial" panose="020B0604020202020204" pitchFamily="34" charset="0"/>
              </a:rPr>
              <a:t> </a:t>
            </a:r>
            <a:r>
              <a:rPr kumimoji="1" lang="en-US" altLang="zh-CN" sz="2400" b="1">
                <a:latin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kumimoji="1" lang="zh-CN" altLang="en-US">
                <a:cs typeface="Arial" panose="020B0604020202020204" pitchFamily="34" charset="0"/>
              </a:rPr>
              <a:t>        </a:t>
            </a:r>
            <a:r>
              <a:rPr kumimoji="1" lang="zh-CN" altLang="en-US" sz="2400">
                <a:cs typeface="Arial" panose="020B0604020202020204" pitchFamily="34" charset="0"/>
              </a:rPr>
              <a:t>维纳是美国数学家，控制论的创始人。维纳</a:t>
            </a:r>
            <a:r>
              <a:rPr kumimoji="1" lang="en-US" altLang="zh-CN" sz="2400">
                <a:cs typeface="Arial" panose="020B0604020202020204" pitchFamily="34" charset="0"/>
              </a:rPr>
              <a:t>1894</a:t>
            </a:r>
            <a:r>
              <a:rPr kumimoji="1" lang="zh-CN" altLang="en-US" sz="2400">
                <a:cs typeface="Arial" panose="020B0604020202020204" pitchFamily="34" charset="0"/>
              </a:rPr>
              <a:t>年</a:t>
            </a:r>
            <a:r>
              <a:rPr kumimoji="1" lang="en-US" altLang="zh-CN" sz="2400">
                <a:cs typeface="Arial" panose="020B0604020202020204" pitchFamily="34" charset="0"/>
              </a:rPr>
              <a:t>11</a:t>
            </a:r>
            <a:r>
              <a:rPr kumimoji="1" lang="zh-CN" altLang="en-US" sz="2400">
                <a:cs typeface="Arial" panose="020B0604020202020204" pitchFamily="34" charset="0"/>
              </a:rPr>
              <a:t>月</a:t>
            </a:r>
            <a:r>
              <a:rPr kumimoji="1" lang="en-US" altLang="zh-CN" sz="2400">
                <a:cs typeface="Arial" panose="020B0604020202020204" pitchFamily="34" charset="0"/>
              </a:rPr>
              <a:t>26</a:t>
            </a:r>
            <a:r>
              <a:rPr kumimoji="1" lang="zh-CN" altLang="en-US" sz="2400">
                <a:cs typeface="Arial" panose="020B0604020202020204" pitchFamily="34" charset="0"/>
              </a:rPr>
              <a:t>日生于密苏里州的哥伦比亚，</a:t>
            </a:r>
            <a:r>
              <a:rPr kumimoji="1" lang="en-US" altLang="zh-CN" sz="2400">
                <a:cs typeface="Arial" panose="020B0604020202020204" pitchFamily="34" charset="0"/>
              </a:rPr>
              <a:t>1964</a:t>
            </a:r>
            <a:r>
              <a:rPr kumimoji="1" lang="zh-CN" altLang="en-US" sz="2400">
                <a:cs typeface="Arial" panose="020B0604020202020204" pitchFamily="34" charset="0"/>
              </a:rPr>
              <a:t>年</a:t>
            </a:r>
            <a:r>
              <a:rPr kumimoji="1" lang="en-US" altLang="zh-CN" sz="2400">
                <a:cs typeface="Arial" panose="020B0604020202020204" pitchFamily="34" charset="0"/>
              </a:rPr>
              <a:t>3</a:t>
            </a:r>
            <a:r>
              <a:rPr kumimoji="1" lang="zh-CN" altLang="en-US" sz="2400">
                <a:cs typeface="Arial" panose="020B0604020202020204" pitchFamily="34" charset="0"/>
              </a:rPr>
              <a:t>月</a:t>
            </a:r>
            <a:r>
              <a:rPr kumimoji="1" lang="en-US" altLang="zh-CN" sz="2400">
                <a:cs typeface="Arial" panose="020B0604020202020204" pitchFamily="34" charset="0"/>
              </a:rPr>
              <a:t>18</a:t>
            </a:r>
            <a:r>
              <a:rPr kumimoji="1" lang="zh-CN" altLang="en-US" sz="2400">
                <a:cs typeface="Arial" panose="020B0604020202020204" pitchFamily="34" charset="0"/>
              </a:rPr>
              <a:t>日卒于斯德哥尔摩。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400">
                <a:cs typeface="Arial" panose="020B0604020202020204" pitchFamily="34" charset="0"/>
              </a:rPr>
              <a:t>         维纳在其</a:t>
            </a:r>
            <a:r>
              <a:rPr kumimoji="1" lang="en-US" altLang="zh-CN" sz="2400">
                <a:cs typeface="Arial" panose="020B0604020202020204" pitchFamily="34" charset="0"/>
              </a:rPr>
              <a:t>70</a:t>
            </a:r>
            <a:r>
              <a:rPr kumimoji="1" lang="zh-CN" altLang="en-US" sz="2400">
                <a:cs typeface="Arial" panose="020B0604020202020204" pitchFamily="34" charset="0"/>
              </a:rPr>
              <a:t>年的科学生涯中，先后涉足哲学、数学、物理学和工程学，最后转向生物学，在各个领域中都取得了丰硕成果，称得上是恩格斯颂扬过的、本世纪多才多艺和学识渊博的科学巨人。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400">
                <a:cs typeface="Arial" panose="020B0604020202020204" pitchFamily="34" charset="0"/>
              </a:rPr>
              <a:t>         他一生发表论文</a:t>
            </a:r>
            <a:r>
              <a:rPr kumimoji="1" lang="en-US" altLang="zh-CN" sz="2400">
                <a:cs typeface="Arial" panose="020B0604020202020204" pitchFamily="34" charset="0"/>
              </a:rPr>
              <a:t>240</a:t>
            </a:r>
            <a:r>
              <a:rPr kumimoji="1" lang="zh-CN" altLang="en-US" sz="2400">
                <a:cs typeface="Arial" panose="020B0604020202020204" pitchFamily="34" charset="0"/>
              </a:rPr>
              <a:t>多篇，著作</a:t>
            </a:r>
            <a:r>
              <a:rPr kumimoji="1" lang="en-US" altLang="zh-CN" sz="2400">
                <a:cs typeface="Arial" panose="020B0604020202020204" pitchFamily="34" charset="0"/>
              </a:rPr>
              <a:t>14</a:t>
            </a:r>
            <a:r>
              <a:rPr kumimoji="1" lang="zh-CN" altLang="en-US" sz="2400">
                <a:cs typeface="Arial" panose="020B0604020202020204" pitchFamily="34" charset="0"/>
              </a:rPr>
              <a:t>本。他的主要著作有</a:t>
            </a:r>
            <a:r>
              <a:rPr kumimoji="1" lang="en-US" altLang="zh-CN" sz="2400">
                <a:cs typeface="Arial" panose="020B0604020202020204" pitchFamily="34" charset="0"/>
              </a:rPr>
              <a:t>《</a:t>
            </a:r>
            <a:r>
              <a:rPr kumimoji="1" lang="zh-CN" altLang="en-US" sz="2400">
                <a:cs typeface="Arial" panose="020B0604020202020204" pitchFamily="34" charset="0"/>
              </a:rPr>
              <a:t>控制论</a:t>
            </a:r>
            <a:r>
              <a:rPr kumimoji="1" lang="en-US" altLang="zh-CN" sz="2400">
                <a:cs typeface="Arial" panose="020B0604020202020204" pitchFamily="34" charset="0"/>
              </a:rPr>
              <a:t>》(1948)</a:t>
            </a:r>
            <a:r>
              <a:rPr kumimoji="1" lang="zh-CN" altLang="en-US" sz="2400">
                <a:cs typeface="Arial" panose="020B0604020202020204" pitchFamily="34" charset="0"/>
              </a:rPr>
              <a:t>、</a:t>
            </a:r>
            <a:r>
              <a:rPr kumimoji="1" lang="en-US" altLang="zh-CN" sz="2400">
                <a:cs typeface="Arial" panose="020B0604020202020204" pitchFamily="34" charset="0"/>
              </a:rPr>
              <a:t>《</a:t>
            </a:r>
            <a:r>
              <a:rPr kumimoji="1" lang="zh-CN" altLang="en-US" sz="2400">
                <a:cs typeface="Arial" panose="020B0604020202020204" pitchFamily="34" charset="0"/>
              </a:rPr>
              <a:t>维纳选集</a:t>
            </a:r>
            <a:r>
              <a:rPr kumimoji="1" lang="en-US" altLang="zh-CN" sz="2400">
                <a:cs typeface="Arial" panose="020B0604020202020204" pitchFamily="34" charset="0"/>
              </a:rPr>
              <a:t>》(1964)</a:t>
            </a:r>
            <a:r>
              <a:rPr kumimoji="1" lang="zh-CN" altLang="en-US" sz="2400">
                <a:cs typeface="Arial" panose="020B0604020202020204" pitchFamily="34" charset="0"/>
              </a:rPr>
              <a:t>和</a:t>
            </a:r>
            <a:r>
              <a:rPr kumimoji="1" lang="en-US" altLang="zh-CN" sz="2400">
                <a:cs typeface="Arial" panose="020B0604020202020204" pitchFamily="34" charset="0"/>
              </a:rPr>
              <a:t>《</a:t>
            </a:r>
            <a:r>
              <a:rPr kumimoji="1" lang="zh-CN" altLang="en-US" sz="2400">
                <a:cs typeface="Arial" panose="020B0604020202020204" pitchFamily="34" charset="0"/>
              </a:rPr>
              <a:t>维纳数学论文集</a:t>
            </a:r>
            <a:r>
              <a:rPr kumimoji="1" lang="en-US" altLang="zh-CN" sz="2400">
                <a:cs typeface="Arial" panose="020B0604020202020204" pitchFamily="34" charset="0"/>
              </a:rPr>
              <a:t>》(1980)</a:t>
            </a:r>
            <a:r>
              <a:rPr kumimoji="1" lang="zh-CN" altLang="en-US" sz="2400">
                <a:cs typeface="Arial" panose="020B0604020202020204" pitchFamily="34" charset="0"/>
              </a:rPr>
              <a:t>。维纳还有两本自传</a:t>
            </a:r>
            <a:r>
              <a:rPr kumimoji="1" lang="en-US" altLang="zh-CN" sz="2400">
                <a:cs typeface="Arial" panose="020B0604020202020204" pitchFamily="34" charset="0"/>
              </a:rPr>
              <a:t>《</a:t>
            </a:r>
            <a:r>
              <a:rPr kumimoji="1" lang="zh-CN" altLang="en-US" sz="2400">
                <a:cs typeface="Arial" panose="020B0604020202020204" pitchFamily="34" charset="0"/>
              </a:rPr>
              <a:t>昔日神童</a:t>
            </a:r>
            <a:r>
              <a:rPr kumimoji="1" lang="en-US" altLang="zh-CN" sz="2400">
                <a:cs typeface="Arial" panose="020B0604020202020204" pitchFamily="34" charset="0"/>
              </a:rPr>
              <a:t>》</a:t>
            </a:r>
            <a:r>
              <a:rPr kumimoji="1" lang="zh-CN" altLang="en-US" sz="2400">
                <a:cs typeface="Arial" panose="020B0604020202020204" pitchFamily="34" charset="0"/>
              </a:rPr>
              <a:t>和</a:t>
            </a:r>
            <a:r>
              <a:rPr kumimoji="1" lang="en-US" altLang="zh-CN" sz="2400">
                <a:cs typeface="Arial" panose="020B0604020202020204" pitchFamily="34" charset="0"/>
              </a:rPr>
              <a:t>《</a:t>
            </a:r>
            <a:r>
              <a:rPr kumimoji="1" lang="zh-CN" altLang="en-US" sz="2400">
                <a:cs typeface="Arial" panose="020B0604020202020204" pitchFamily="34" charset="0"/>
              </a:rPr>
              <a:t>我是一个数学家</a:t>
            </a:r>
            <a:r>
              <a:rPr kumimoji="1" lang="en-US" altLang="zh-CN" sz="2400">
                <a:cs typeface="Arial" panose="020B0604020202020204" pitchFamily="34" charset="0"/>
              </a:rPr>
              <a:t>》</a:t>
            </a:r>
            <a:r>
              <a:rPr kumimoji="1" lang="zh-CN" altLang="en-US" sz="2400">
                <a:cs typeface="Arial" panose="020B0604020202020204" pitchFamily="34" charset="0"/>
              </a:rPr>
              <a:t>。 </a:t>
            </a:r>
          </a:p>
        </p:txBody>
      </p:sp>
      <p:sp>
        <p:nvSpPr>
          <p:cNvPr id="8196" name="Text Box 5"/>
          <p:cNvSpPr txBox="1">
            <a:spLocks noChangeArrowheads="1"/>
          </p:cNvSpPr>
          <p:nvPr/>
        </p:nvSpPr>
        <p:spPr bwMode="auto">
          <a:xfrm>
            <a:off x="34925" y="92075"/>
            <a:ext cx="2881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信息与信息论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AutoShape 8" descr="W020090714541478607410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9220" name="AutoShape 10" descr="W020090714541478607410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9221" name="Rectangle 16"/>
          <p:cNvSpPr>
            <a:spLocks noChangeArrowheads="1"/>
          </p:cNvSpPr>
          <p:nvPr/>
        </p:nvSpPr>
        <p:spPr bwMode="auto">
          <a:xfrm>
            <a:off x="827088" y="1341438"/>
            <a:ext cx="7921625" cy="423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</a:rPr>
              <a:t>1.</a:t>
            </a:r>
            <a:r>
              <a:rPr kumimoji="1" lang="zh-CN" altLang="en-US" b="1">
                <a:latin typeface="Times New Roman" panose="02020603050405020304" pitchFamily="18" charset="0"/>
              </a:rPr>
              <a:t>信息与信息技术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</a:rPr>
              <a:t>2.</a:t>
            </a:r>
            <a:r>
              <a:rPr kumimoji="1" lang="zh-CN" altLang="en-US" b="1">
                <a:latin typeface="Times New Roman" panose="02020603050405020304" pitchFamily="18" charset="0"/>
              </a:rPr>
              <a:t>信息论与广义通信系统</a:t>
            </a:r>
            <a:endParaRPr kumimoji="1" lang="en-US" altLang="zh-CN" b="1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</a:rPr>
              <a:t>3.</a:t>
            </a:r>
            <a:r>
              <a:rPr kumimoji="1" lang="zh-CN" altLang="en-US" b="1">
                <a:latin typeface="Times New Roman" panose="02020603050405020304" pitchFamily="18" charset="0"/>
              </a:rPr>
              <a:t>信源模型与自信息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</a:rPr>
              <a:t>4.</a:t>
            </a:r>
            <a:r>
              <a:rPr kumimoji="1" lang="zh-CN" altLang="en-US" b="1">
                <a:latin typeface="Times New Roman" panose="02020603050405020304" pitchFamily="18" charset="0"/>
              </a:rPr>
              <a:t>信息熵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</a:rPr>
              <a:t>5.</a:t>
            </a:r>
            <a:r>
              <a:rPr kumimoji="1" lang="zh-CN" altLang="en-US" b="1">
                <a:latin typeface="Times New Roman" panose="02020603050405020304" pitchFamily="18" charset="0"/>
              </a:rPr>
              <a:t>连续信源的熵及最大熵定理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</a:rPr>
              <a:t>6.</a:t>
            </a:r>
            <a:r>
              <a:rPr kumimoji="1" lang="zh-CN" altLang="en-US" b="1">
                <a:latin typeface="Times New Roman" panose="02020603050405020304" pitchFamily="18" charset="0"/>
              </a:rPr>
              <a:t>信息与熵守恒定律</a:t>
            </a:r>
          </a:p>
        </p:txBody>
      </p:sp>
      <p:sp>
        <p:nvSpPr>
          <p:cNvPr id="9222" name="Rectangle 17"/>
          <p:cNvSpPr>
            <a:spLocks noChangeArrowheads="1"/>
          </p:cNvSpPr>
          <p:nvPr/>
        </p:nvSpPr>
        <p:spPr bwMode="auto">
          <a:xfrm>
            <a:off x="0" y="620713"/>
            <a:ext cx="26844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993300"/>
                </a:solidFill>
                <a:latin typeface="Times New Roman" panose="02020603050405020304" pitchFamily="18" charset="0"/>
              </a:rPr>
              <a:t>本章学习内容：</a:t>
            </a:r>
          </a:p>
        </p:txBody>
      </p:sp>
      <p:sp>
        <p:nvSpPr>
          <p:cNvPr id="9223" name="Text Box 22"/>
          <p:cNvSpPr txBox="1">
            <a:spLocks noChangeArrowheads="1"/>
          </p:cNvSpPr>
          <p:nvPr/>
        </p:nvSpPr>
        <p:spPr bwMode="auto">
          <a:xfrm>
            <a:off x="34925" y="92075"/>
            <a:ext cx="2881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信息与信息论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0" y="620713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993300"/>
                </a:solidFill>
                <a:latin typeface="Times New Roman" panose="02020603050405020304" pitchFamily="18" charset="0"/>
              </a:rPr>
              <a:t>什么是信息</a:t>
            </a:r>
            <a:endParaRPr kumimoji="1" lang="zh-CN" altLang="en-US" sz="280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4" name="Text Box 14"/>
          <p:cNvSpPr txBox="1">
            <a:spLocks noChangeArrowheads="1"/>
          </p:cNvSpPr>
          <p:nvPr/>
        </p:nvSpPr>
        <p:spPr bwMode="auto">
          <a:xfrm>
            <a:off x="0" y="1412875"/>
            <a:ext cx="9144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008000"/>
                </a:solidFill>
                <a:latin typeface="Arial" panose="020B0604020202020204" pitchFamily="34" charset="0"/>
              </a:rPr>
              <a:t>  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</a:rPr>
              <a:t>维纳</a:t>
            </a:r>
            <a:r>
              <a:rPr lang="zh-CN" altLang="en-US">
                <a:solidFill>
                  <a:srgbClr val="008000"/>
                </a:solidFill>
                <a:latin typeface="Arial" panose="020B0604020202020204" pitchFamily="34" charset="0"/>
              </a:rPr>
              <a:t>：</a:t>
            </a:r>
            <a:r>
              <a:rPr lang="zh-CN" altLang="en-US">
                <a:latin typeface="Arial" panose="020B0604020202020204" pitchFamily="34" charset="0"/>
              </a:rPr>
              <a:t>人和外界互相作用过程中互相交换的内容的名称；</a:t>
            </a:r>
          </a:p>
        </p:txBody>
      </p:sp>
      <p:sp>
        <p:nvSpPr>
          <p:cNvPr id="10245" name="Text Box 15"/>
          <p:cNvSpPr txBox="1">
            <a:spLocks noChangeArrowheads="1"/>
          </p:cNvSpPr>
          <p:nvPr/>
        </p:nvSpPr>
        <p:spPr bwMode="auto">
          <a:xfrm>
            <a:off x="0" y="2492375"/>
            <a:ext cx="9144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008000"/>
                </a:solidFill>
                <a:latin typeface="Arial" panose="020B0604020202020204" pitchFamily="34" charset="0"/>
              </a:rPr>
              <a:t>  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</a:rPr>
              <a:t>山农</a:t>
            </a:r>
            <a:r>
              <a:rPr lang="zh-CN" altLang="en-US">
                <a:solidFill>
                  <a:srgbClr val="008000"/>
                </a:solidFill>
                <a:latin typeface="Arial" panose="020B0604020202020204" pitchFamily="34" charset="0"/>
              </a:rPr>
              <a:t>：</a:t>
            </a:r>
            <a:r>
              <a:rPr lang="zh-CN" altLang="en-US">
                <a:latin typeface="Arial" panose="020B0604020202020204" pitchFamily="34" charset="0"/>
              </a:rPr>
              <a:t>能够消除不确定性的东西</a:t>
            </a:r>
            <a:r>
              <a:rPr lang="en-US" altLang="zh-CN">
                <a:latin typeface="Arial" panose="020B0604020202020204" pitchFamily="34" charset="0"/>
              </a:rPr>
              <a:t>(</a:t>
            </a:r>
            <a:r>
              <a:rPr lang="zh-CN" altLang="en-US">
                <a:latin typeface="Arial" panose="020B0604020202020204" pitchFamily="34" charset="0"/>
              </a:rPr>
              <a:t>熵的减少</a:t>
            </a:r>
            <a:r>
              <a:rPr lang="en-US" altLang="zh-CN">
                <a:latin typeface="Arial" panose="020B0604020202020204" pitchFamily="34" charset="0"/>
              </a:rPr>
              <a:t>)</a:t>
            </a:r>
            <a:r>
              <a:rPr lang="zh-CN" altLang="en-US">
                <a:latin typeface="Arial" panose="020B0604020202020204" pitchFamily="34" charset="0"/>
              </a:rPr>
              <a:t>；</a:t>
            </a:r>
          </a:p>
        </p:txBody>
      </p:sp>
      <p:sp>
        <p:nvSpPr>
          <p:cNvPr id="10246" name="Text Box 16"/>
          <p:cNvSpPr txBox="1">
            <a:spLocks noChangeArrowheads="1"/>
          </p:cNvSpPr>
          <p:nvPr/>
        </p:nvSpPr>
        <p:spPr bwMode="auto">
          <a:xfrm>
            <a:off x="0" y="3360738"/>
            <a:ext cx="9144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008000"/>
                </a:solidFill>
                <a:latin typeface="Arial" panose="020B0604020202020204" pitchFamily="34" charset="0"/>
              </a:rPr>
              <a:t>  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</a:rPr>
              <a:t>朗格</a:t>
            </a:r>
            <a:r>
              <a:rPr lang="zh-CN" altLang="en-US">
                <a:solidFill>
                  <a:srgbClr val="008000"/>
                </a:solidFill>
                <a:latin typeface="Arial" panose="020B0604020202020204" pitchFamily="34" charset="0"/>
              </a:rPr>
              <a:t>：</a:t>
            </a:r>
            <a:r>
              <a:rPr lang="zh-CN" altLang="en-US">
                <a:latin typeface="Arial" panose="020B0604020202020204" pitchFamily="34" charset="0"/>
              </a:rPr>
              <a:t>信息是事物间的差异；</a:t>
            </a:r>
          </a:p>
        </p:txBody>
      </p:sp>
      <p:sp>
        <p:nvSpPr>
          <p:cNvPr id="10247" name="Text Box 17"/>
          <p:cNvSpPr txBox="1">
            <a:spLocks noChangeArrowheads="1"/>
          </p:cNvSpPr>
          <p:nvPr/>
        </p:nvSpPr>
        <p:spPr bwMode="auto">
          <a:xfrm>
            <a:off x="395288" y="4837113"/>
            <a:ext cx="8135937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4800">
                <a:solidFill>
                  <a:srgbClr val="CC3300"/>
                </a:solidFill>
                <a:latin typeface="Arial" panose="020B0604020202020204" pitchFamily="34" charset="0"/>
              </a:rPr>
              <a:t>信息是事物运动的状态与方式</a:t>
            </a:r>
          </a:p>
        </p:txBody>
      </p:sp>
      <p:sp>
        <p:nvSpPr>
          <p:cNvPr id="10248" name="Text Box 18"/>
          <p:cNvSpPr txBox="1">
            <a:spLocks noChangeArrowheads="1"/>
          </p:cNvSpPr>
          <p:nvPr/>
        </p:nvSpPr>
        <p:spPr bwMode="auto">
          <a:xfrm>
            <a:off x="34925" y="92075"/>
            <a:ext cx="2881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信息与信息论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0" y="620713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993300"/>
                </a:solidFill>
                <a:latin typeface="Times New Roman" panose="02020603050405020304" pitchFamily="18" charset="0"/>
              </a:rPr>
              <a:t>信息的作用</a:t>
            </a:r>
            <a:endParaRPr kumimoji="1" lang="zh-CN" altLang="en-US" sz="280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8" name="Text Box 7"/>
          <p:cNvSpPr txBox="1">
            <a:spLocks noChangeArrowheads="1"/>
          </p:cNvSpPr>
          <p:nvPr/>
        </p:nvSpPr>
        <p:spPr bwMode="auto">
          <a:xfrm>
            <a:off x="755650" y="1484313"/>
            <a:ext cx="7885113" cy="302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480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zh-CN" altLang="en-US" sz="4800" b="1">
                <a:solidFill>
                  <a:srgbClr val="008000"/>
                </a:solidFill>
                <a:latin typeface="Times New Roman" panose="02020603050405020304" pitchFamily="18" charset="0"/>
              </a:rPr>
              <a:t>信息是一种资源</a:t>
            </a:r>
            <a:r>
              <a:rPr lang="zh-CN" altLang="en-US" sz="4800">
                <a:solidFill>
                  <a:srgbClr val="008000"/>
                </a:solidFill>
                <a:latin typeface="Arial" panose="020B0604020202020204" pitchFamily="34" charset="0"/>
              </a:rPr>
              <a:t>；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480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zh-CN" altLang="en-US" sz="4800" b="1">
                <a:solidFill>
                  <a:srgbClr val="008000"/>
                </a:solidFill>
                <a:latin typeface="Times New Roman" panose="02020603050405020304" pitchFamily="18" charset="0"/>
              </a:rPr>
              <a:t>信息与物质、能量的关系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4800" b="1">
                <a:solidFill>
                  <a:srgbClr val="008000"/>
                </a:solidFill>
                <a:latin typeface="Times New Roman" panose="02020603050405020304" pitchFamily="18" charset="0"/>
              </a:rPr>
              <a:t> 信息的基本性质</a:t>
            </a:r>
            <a:endParaRPr lang="en-US" altLang="zh-CN" sz="4800" b="1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9" name="Text Box 8"/>
          <p:cNvSpPr txBox="1">
            <a:spLocks noChangeArrowheads="1"/>
          </p:cNvSpPr>
          <p:nvPr/>
        </p:nvSpPr>
        <p:spPr bwMode="auto">
          <a:xfrm>
            <a:off x="1476375" y="4724400"/>
            <a:ext cx="6264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CC3300"/>
                </a:solidFill>
                <a:latin typeface="Arial" panose="020B0604020202020204" pitchFamily="34" charset="0"/>
              </a:rPr>
              <a:t>可识别、可转换、可存储、可传输</a:t>
            </a:r>
          </a:p>
        </p:txBody>
      </p:sp>
      <p:sp>
        <p:nvSpPr>
          <p:cNvPr id="11270" name="Text Box 9"/>
          <p:cNvSpPr txBox="1">
            <a:spLocks noChangeArrowheads="1"/>
          </p:cNvSpPr>
          <p:nvPr/>
        </p:nvSpPr>
        <p:spPr bwMode="auto">
          <a:xfrm>
            <a:off x="468313" y="5661025"/>
            <a:ext cx="85677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 b="1">
                <a:solidFill>
                  <a:schemeClr val="hlink"/>
                </a:solidFill>
                <a:latin typeface="Arial" panose="020B0604020202020204" pitchFamily="34" charset="0"/>
              </a:rPr>
              <a:t>信息科学就是研究信息现象及规律的科学</a:t>
            </a:r>
          </a:p>
        </p:txBody>
      </p:sp>
      <p:sp>
        <p:nvSpPr>
          <p:cNvPr id="11271" name="Text Box 10"/>
          <p:cNvSpPr txBox="1">
            <a:spLocks noChangeArrowheads="1"/>
          </p:cNvSpPr>
          <p:nvPr/>
        </p:nvSpPr>
        <p:spPr bwMode="auto">
          <a:xfrm>
            <a:off x="34925" y="92075"/>
            <a:ext cx="2881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信息与信息论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0" y="620713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993300"/>
                </a:solidFill>
                <a:latin typeface="Times New Roman" panose="02020603050405020304" pitchFamily="18" charset="0"/>
              </a:rPr>
              <a:t>信息科学</a:t>
            </a:r>
            <a:endParaRPr kumimoji="1" lang="en-US" altLang="zh-CN" sz="280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2" name="Text Box 5"/>
          <p:cNvSpPr txBox="1">
            <a:spLocks noChangeArrowheads="1"/>
          </p:cNvSpPr>
          <p:nvPr/>
        </p:nvSpPr>
        <p:spPr bwMode="auto">
          <a:xfrm>
            <a:off x="0" y="1412875"/>
            <a:ext cx="9144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008000"/>
                </a:solidFill>
                <a:latin typeface="Arial" panose="020B0604020202020204" pitchFamily="34" charset="0"/>
              </a:rPr>
              <a:t>    </a:t>
            </a:r>
            <a:r>
              <a:rPr lang="zh-CN" altLang="en-US">
                <a:latin typeface="Arial" panose="020B0604020202020204" pitchFamily="34" charset="0"/>
              </a:rPr>
              <a:t>研究信息现象及其规律的科学，包括：信息论、控制论和系统论；</a:t>
            </a:r>
          </a:p>
        </p:txBody>
      </p:sp>
      <p:sp>
        <p:nvSpPr>
          <p:cNvPr id="12293" name="Rectangle 9"/>
          <p:cNvSpPr>
            <a:spLocks noChangeArrowheads="1"/>
          </p:cNvSpPr>
          <p:nvPr/>
        </p:nvSpPr>
        <p:spPr bwMode="auto">
          <a:xfrm>
            <a:off x="0" y="3357563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993300"/>
                </a:solidFill>
                <a:latin typeface="Times New Roman" panose="02020603050405020304" pitchFamily="18" charset="0"/>
              </a:rPr>
              <a:t>信息技术</a:t>
            </a:r>
            <a:endParaRPr kumimoji="1" lang="en-US" altLang="zh-CN" sz="280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4" name="Text Box 10"/>
          <p:cNvSpPr txBox="1">
            <a:spLocks noChangeArrowheads="1"/>
          </p:cNvSpPr>
          <p:nvPr/>
        </p:nvSpPr>
        <p:spPr bwMode="auto">
          <a:xfrm>
            <a:off x="7938" y="4149725"/>
            <a:ext cx="9144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008000"/>
                </a:solidFill>
                <a:latin typeface="Arial" panose="020B0604020202020204" pitchFamily="34" charset="0"/>
              </a:rPr>
              <a:t>    </a:t>
            </a:r>
            <a:r>
              <a:rPr lang="zh-CN" altLang="en-US">
                <a:latin typeface="Arial" panose="020B0604020202020204" pitchFamily="34" charset="0"/>
              </a:rPr>
              <a:t>可以扩展人的信息功能的技术，包括：传感器技术、通信技术和计算机技术；</a:t>
            </a:r>
          </a:p>
        </p:txBody>
      </p:sp>
      <p:sp>
        <p:nvSpPr>
          <p:cNvPr id="12295" name="Text Box 11"/>
          <p:cNvSpPr txBox="1">
            <a:spLocks noChangeArrowheads="1"/>
          </p:cNvSpPr>
          <p:nvPr/>
        </p:nvSpPr>
        <p:spPr bwMode="auto">
          <a:xfrm>
            <a:off x="34925" y="92075"/>
            <a:ext cx="2881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信息与信息论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0" y="620713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993300"/>
                </a:solidFill>
                <a:latin typeface="Times New Roman" panose="02020603050405020304" pitchFamily="18" charset="0"/>
              </a:rPr>
              <a:t>信息论与广义通信系统</a:t>
            </a:r>
            <a:endParaRPr kumimoji="1" lang="zh-CN" altLang="en-US" sz="280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6" name="Text Box 5"/>
          <p:cNvSpPr txBox="1">
            <a:spLocks noChangeArrowheads="1"/>
          </p:cNvSpPr>
          <p:nvPr/>
        </p:nvSpPr>
        <p:spPr bwMode="auto">
          <a:xfrm>
            <a:off x="0" y="1412875"/>
            <a:ext cx="9144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008000"/>
                </a:solidFill>
                <a:latin typeface="Arial" panose="020B0604020202020204" pitchFamily="34" charset="0"/>
              </a:rPr>
              <a:t>    信息论：</a:t>
            </a:r>
            <a:r>
              <a:rPr lang="zh-CN" altLang="en-US">
                <a:latin typeface="Arial" panose="020B0604020202020204" pitchFamily="34" charset="0"/>
              </a:rPr>
              <a:t>是一门应用数理统计方法研究信息传输与信息处理的新兴学科；</a:t>
            </a:r>
          </a:p>
        </p:txBody>
      </p:sp>
      <p:sp>
        <p:nvSpPr>
          <p:cNvPr id="13317" name="Text Box 6"/>
          <p:cNvSpPr txBox="1">
            <a:spLocks noChangeArrowheads="1"/>
          </p:cNvSpPr>
          <p:nvPr/>
        </p:nvSpPr>
        <p:spPr bwMode="auto">
          <a:xfrm>
            <a:off x="0" y="2852738"/>
            <a:ext cx="91440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chemeClr val="hlink"/>
                </a:solidFill>
                <a:latin typeface="Arial" panose="020B0604020202020204" pitchFamily="34" charset="0"/>
              </a:rPr>
              <a:t>    </a:t>
            </a:r>
            <a:r>
              <a:rPr lang="zh-CN" altLang="en-US" sz="3600">
                <a:latin typeface="Arial" panose="020B0604020202020204" pitchFamily="34" charset="0"/>
              </a:rPr>
              <a:t>可以分为狭义信息论、一般信息论和</a:t>
            </a:r>
            <a:r>
              <a:rPr lang="zh-CN" altLang="en-US" sz="3600">
                <a:solidFill>
                  <a:schemeClr val="hlink"/>
                </a:solidFill>
                <a:latin typeface="Arial" panose="020B0604020202020204" pitchFamily="34" charset="0"/>
              </a:rPr>
              <a:t>广义信息论</a:t>
            </a:r>
            <a:r>
              <a:rPr lang="zh-CN" altLang="en-US">
                <a:solidFill>
                  <a:schemeClr val="hlink"/>
                </a:solidFill>
                <a:latin typeface="Arial" panose="020B0604020202020204" pitchFamily="34" charset="0"/>
              </a:rPr>
              <a:t>；</a:t>
            </a:r>
          </a:p>
        </p:txBody>
      </p:sp>
      <p:pic>
        <p:nvPicPr>
          <p:cNvPr id="1331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4292600"/>
            <a:ext cx="7758112" cy="201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9" name="Text Box 8"/>
          <p:cNvSpPr txBox="1">
            <a:spLocks noChangeArrowheads="1"/>
          </p:cNvSpPr>
          <p:nvPr/>
        </p:nvSpPr>
        <p:spPr bwMode="auto">
          <a:xfrm>
            <a:off x="34925" y="92075"/>
            <a:ext cx="2881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信息与信息论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0" y="620713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993300"/>
                </a:solidFill>
                <a:latin typeface="Times New Roman" panose="02020603050405020304" pitchFamily="18" charset="0"/>
              </a:rPr>
              <a:t>信源模型与自信息</a:t>
            </a:r>
            <a:endParaRPr kumimoji="1" lang="zh-CN" altLang="en-US" sz="280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0" name="Text Box 5"/>
          <p:cNvSpPr txBox="1">
            <a:spLocks noChangeArrowheads="1"/>
          </p:cNvSpPr>
          <p:nvPr/>
        </p:nvSpPr>
        <p:spPr bwMode="auto">
          <a:xfrm>
            <a:off x="0" y="1282700"/>
            <a:ext cx="9144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008000"/>
                </a:solidFill>
                <a:latin typeface="Arial" panose="020B0604020202020204" pitchFamily="34" charset="0"/>
              </a:rPr>
              <a:t>    信源：</a:t>
            </a:r>
            <a:r>
              <a:rPr lang="zh-CN" altLang="en-US">
                <a:latin typeface="Arial" panose="020B0604020202020204" pitchFamily="34" charset="0"/>
              </a:rPr>
              <a:t>以符号</a:t>
            </a:r>
            <a:r>
              <a:rPr lang="en-US" altLang="zh-CN">
                <a:latin typeface="Arial" panose="020B0604020202020204" pitchFamily="34" charset="0"/>
              </a:rPr>
              <a:t>(</a:t>
            </a:r>
            <a:r>
              <a:rPr lang="zh-CN" altLang="en-US">
                <a:latin typeface="Arial" panose="020B0604020202020204" pitchFamily="34" charset="0"/>
              </a:rPr>
              <a:t>或信号</a:t>
            </a:r>
            <a:r>
              <a:rPr lang="en-US" altLang="zh-CN">
                <a:latin typeface="Arial" panose="020B0604020202020204" pitchFamily="34" charset="0"/>
              </a:rPr>
              <a:t>)</a:t>
            </a:r>
            <a:r>
              <a:rPr lang="zh-CN" altLang="en-US">
                <a:latin typeface="Arial" panose="020B0604020202020204" pitchFamily="34" charset="0"/>
              </a:rPr>
              <a:t>的形式发出信息，分为离散信源和连续信源；</a:t>
            </a:r>
          </a:p>
        </p:txBody>
      </p:sp>
      <p:sp>
        <p:nvSpPr>
          <p:cNvPr id="68617" name="Rectangle 9"/>
          <p:cNvSpPr>
            <a:spLocks noChangeArrowheads="1"/>
          </p:cNvSpPr>
          <p:nvPr/>
        </p:nvSpPr>
        <p:spPr bwMode="auto">
          <a:xfrm>
            <a:off x="468313" y="2349500"/>
            <a:ext cx="8388350" cy="337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800">
                <a:latin typeface="宋体" panose="02010600030101010101" pitchFamily="2" charset="-122"/>
                <a:cs typeface="Arial" panose="020B0604020202020204" pitchFamily="34" charset="0"/>
              </a:rPr>
              <a:t>收到消息前   收到消息后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 sz="2800">
                <a:latin typeface="宋体" panose="02010600030101010101" pitchFamily="2" charset="-122"/>
                <a:cs typeface="Arial" panose="020B0604020202020204" pitchFamily="34" charset="0"/>
              </a:rPr>
              <a:t>  不知         已知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 sz="2800">
                <a:latin typeface="宋体" panose="02010600030101010101" pitchFamily="2" charset="-122"/>
                <a:cs typeface="Arial" panose="020B0604020202020204" pitchFamily="34" charset="0"/>
              </a:rPr>
              <a:t>  不知         不确定      获得信息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 sz="2800">
                <a:latin typeface="宋体" panose="02010600030101010101" pitchFamily="2" charset="-122"/>
                <a:cs typeface="Arial" panose="020B0604020202020204" pitchFamily="34" charset="0"/>
              </a:rPr>
              <a:t>  知少         知多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 sz="2800">
                <a:latin typeface="宋体" panose="02010600030101010101" pitchFamily="2" charset="-122"/>
                <a:cs typeface="Arial" panose="020B0604020202020204" pitchFamily="34" charset="0"/>
              </a:rPr>
              <a:t>  不确定    未减少不确定   未获信息</a:t>
            </a:r>
          </a:p>
        </p:txBody>
      </p:sp>
      <p:sp>
        <p:nvSpPr>
          <p:cNvPr id="68618" name="AutoShape 10"/>
          <p:cNvSpPr>
            <a:spLocks/>
          </p:cNvSpPr>
          <p:nvPr/>
        </p:nvSpPr>
        <p:spPr bwMode="auto">
          <a:xfrm>
            <a:off x="4716463" y="2997200"/>
            <a:ext cx="503237" cy="1439863"/>
          </a:xfrm>
          <a:prstGeom prst="rightBrace">
            <a:avLst>
              <a:gd name="adj1" fmla="val 23843"/>
              <a:gd name="adj2" fmla="val 50000"/>
            </a:avLst>
          </a:prstGeom>
          <a:noFill/>
          <a:ln w="28575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>
              <a:solidFill>
                <a:srgbClr val="CC3300"/>
              </a:solidFill>
              <a:latin typeface="Arial" panose="020B0604020202020204" pitchFamily="34" charset="0"/>
            </a:endParaRPr>
          </a:p>
        </p:txBody>
      </p:sp>
      <p:sp>
        <p:nvSpPr>
          <p:cNvPr id="68620" name="Rectangle 12"/>
          <p:cNvSpPr>
            <a:spLocks noChangeArrowheads="1"/>
          </p:cNvSpPr>
          <p:nvPr/>
        </p:nvSpPr>
        <p:spPr bwMode="auto">
          <a:xfrm>
            <a:off x="250825" y="5256213"/>
            <a:ext cx="1512888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zh-CN" altLang="en-US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</a:rPr>
              <a:t>信息量</a:t>
            </a:r>
            <a:endParaRPr lang="en-US" altLang="zh-CN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68621" name="Line 13"/>
          <p:cNvSpPr>
            <a:spLocks noChangeShapeType="1"/>
          </p:cNvSpPr>
          <p:nvPr/>
        </p:nvSpPr>
        <p:spPr bwMode="auto">
          <a:xfrm flipH="1">
            <a:off x="1670050" y="5589588"/>
            <a:ext cx="914400" cy="0"/>
          </a:xfrm>
          <a:prstGeom prst="line">
            <a:avLst/>
          </a:prstGeom>
          <a:noFill/>
          <a:ln w="28575" cap="sq">
            <a:solidFill>
              <a:srgbClr val="00FF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8622" name="Line 14"/>
          <p:cNvSpPr>
            <a:spLocks noChangeShapeType="1"/>
          </p:cNvSpPr>
          <p:nvPr/>
        </p:nvSpPr>
        <p:spPr bwMode="auto">
          <a:xfrm>
            <a:off x="6445250" y="6505575"/>
            <a:ext cx="719138" cy="0"/>
          </a:xfrm>
          <a:prstGeom prst="line">
            <a:avLst/>
          </a:prstGeom>
          <a:noFill/>
          <a:ln w="28575" cap="sq">
            <a:solidFill>
              <a:srgbClr val="00FF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8623" name="Line 15"/>
          <p:cNvSpPr>
            <a:spLocks noChangeShapeType="1"/>
          </p:cNvSpPr>
          <p:nvPr/>
        </p:nvSpPr>
        <p:spPr bwMode="auto">
          <a:xfrm>
            <a:off x="1979613" y="6505575"/>
            <a:ext cx="719137" cy="0"/>
          </a:xfrm>
          <a:prstGeom prst="line">
            <a:avLst/>
          </a:prstGeom>
          <a:noFill/>
          <a:ln w="28575" cap="sq">
            <a:solidFill>
              <a:srgbClr val="00FF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8624" name="Line 16"/>
          <p:cNvSpPr>
            <a:spLocks noChangeShapeType="1"/>
          </p:cNvSpPr>
          <p:nvPr/>
        </p:nvSpPr>
        <p:spPr bwMode="auto">
          <a:xfrm>
            <a:off x="3971925" y="6505575"/>
            <a:ext cx="719138" cy="0"/>
          </a:xfrm>
          <a:prstGeom prst="line">
            <a:avLst/>
          </a:prstGeom>
          <a:noFill/>
          <a:ln w="28575" cap="sq">
            <a:solidFill>
              <a:srgbClr val="00FF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8625" name="Rectangle 17"/>
          <p:cNvSpPr>
            <a:spLocks noChangeArrowheads="1"/>
          </p:cNvSpPr>
          <p:nvPr/>
        </p:nvSpPr>
        <p:spPr bwMode="auto">
          <a:xfrm>
            <a:off x="2627313" y="5256213"/>
            <a:ext cx="3529012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zh-CN" altLang="en-US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</a:rPr>
              <a:t>不确定性消除程度</a:t>
            </a:r>
            <a:endParaRPr lang="en-US" altLang="zh-CN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68626" name="Rectangle 18"/>
          <p:cNvSpPr>
            <a:spLocks noChangeArrowheads="1"/>
          </p:cNvSpPr>
          <p:nvPr/>
        </p:nvSpPr>
        <p:spPr bwMode="auto">
          <a:xfrm>
            <a:off x="7092950" y="6191250"/>
            <a:ext cx="1079500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zh-CN" altLang="en-US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</a:rPr>
              <a:t>概率</a:t>
            </a:r>
            <a:endParaRPr lang="en-US" altLang="zh-CN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68627" name="Rectangle 19"/>
          <p:cNvSpPr>
            <a:spLocks noChangeArrowheads="1"/>
          </p:cNvSpPr>
          <p:nvPr/>
        </p:nvSpPr>
        <p:spPr bwMode="auto">
          <a:xfrm>
            <a:off x="250825" y="6215063"/>
            <a:ext cx="1871663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zh-CN" altLang="en-US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</a:rPr>
              <a:t>不确定性</a:t>
            </a:r>
            <a:endParaRPr lang="en-US" altLang="zh-CN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68628" name="Rectangle 20"/>
          <p:cNvSpPr>
            <a:spLocks noChangeArrowheads="1"/>
          </p:cNvSpPr>
          <p:nvPr/>
        </p:nvSpPr>
        <p:spPr bwMode="auto">
          <a:xfrm>
            <a:off x="2651125" y="6191250"/>
            <a:ext cx="1439863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zh-CN" altLang="en-US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</a:rPr>
              <a:t>随机性 </a:t>
            </a:r>
            <a:endParaRPr lang="en-US" altLang="zh-CN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68629" name="Rectangle 21"/>
          <p:cNvSpPr>
            <a:spLocks noChangeArrowheads="1"/>
          </p:cNvSpPr>
          <p:nvPr/>
        </p:nvSpPr>
        <p:spPr bwMode="auto">
          <a:xfrm>
            <a:off x="4619625" y="6191250"/>
            <a:ext cx="1943100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zh-CN" altLang="en-US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</a:rPr>
              <a:t>随机事件</a:t>
            </a:r>
            <a:r>
              <a:rPr lang="en-US" altLang="zh-CN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</a:rPr>
              <a:t> </a:t>
            </a:r>
          </a:p>
        </p:txBody>
      </p:sp>
      <p:sp>
        <p:nvSpPr>
          <p:cNvPr id="68630" name="Rectangle 22"/>
          <p:cNvSpPr>
            <a:spLocks noChangeArrowheads="1"/>
          </p:cNvSpPr>
          <p:nvPr/>
        </p:nvSpPr>
        <p:spPr bwMode="auto">
          <a:xfrm>
            <a:off x="7092950" y="4822825"/>
            <a:ext cx="1511300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zh-CN" altLang="en-US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</a:rPr>
              <a:t>概率论</a:t>
            </a:r>
            <a:endParaRPr lang="en-US" altLang="zh-CN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68631" name="Rectangle 23"/>
          <p:cNvSpPr>
            <a:spLocks noChangeArrowheads="1"/>
          </p:cNvSpPr>
          <p:nvPr/>
        </p:nvSpPr>
        <p:spPr bwMode="auto">
          <a:xfrm>
            <a:off x="7092950" y="5507038"/>
            <a:ext cx="1943100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zh-CN" altLang="en-US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</a:rPr>
              <a:t>随机过程</a:t>
            </a:r>
            <a:r>
              <a:rPr lang="en-US" altLang="zh-CN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</a:rPr>
              <a:t> </a:t>
            </a:r>
          </a:p>
        </p:txBody>
      </p:sp>
      <p:sp>
        <p:nvSpPr>
          <p:cNvPr id="68632" name="AutoShape 24"/>
          <p:cNvSpPr>
            <a:spLocks/>
          </p:cNvSpPr>
          <p:nvPr/>
        </p:nvSpPr>
        <p:spPr bwMode="auto">
          <a:xfrm>
            <a:off x="6661150" y="5040313"/>
            <a:ext cx="215900" cy="863600"/>
          </a:xfrm>
          <a:prstGeom prst="leftBrace">
            <a:avLst>
              <a:gd name="adj1" fmla="val 33333"/>
              <a:gd name="adj2" fmla="val 50000"/>
            </a:avLst>
          </a:prstGeom>
          <a:noFill/>
          <a:ln w="28575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14356" name="Text Box 25"/>
          <p:cNvSpPr txBox="1">
            <a:spLocks noChangeArrowheads="1"/>
          </p:cNvSpPr>
          <p:nvPr/>
        </p:nvSpPr>
        <p:spPr bwMode="auto">
          <a:xfrm>
            <a:off x="34925" y="92075"/>
            <a:ext cx="2881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信息与信息论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47" name="Rectangle 15"/>
          <p:cNvSpPr>
            <a:spLocks noGrp="1" noChangeArrowheads="1"/>
          </p:cNvSpPr>
          <p:nvPr>
            <p:ph type="body" idx="1"/>
          </p:nvPr>
        </p:nvSpPr>
        <p:spPr>
          <a:xfrm>
            <a:off x="107950" y="1127125"/>
            <a:ext cx="9145588" cy="6477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/>
              <a:t>       三个随机变量 </a:t>
            </a:r>
            <a:r>
              <a:rPr lang="en-US" altLang="zh-CN"/>
              <a:t>X,Y,Z</a:t>
            </a:r>
            <a:r>
              <a:rPr lang="zh-CN" altLang="en-US"/>
              <a:t>的密度矩阵为</a:t>
            </a:r>
            <a:endParaRPr lang="en-US" altLang="zh-CN"/>
          </a:p>
        </p:txBody>
      </p:sp>
      <p:graphicFrame>
        <p:nvGraphicFramePr>
          <p:cNvPr id="15364" name="Object 16"/>
          <p:cNvGraphicFramePr>
            <a:graphicFrameLocks noChangeAspect="1"/>
          </p:cNvGraphicFramePr>
          <p:nvPr/>
        </p:nvGraphicFramePr>
        <p:xfrm>
          <a:off x="1327150" y="260350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260350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9" name="Object 17"/>
          <p:cNvGraphicFramePr>
            <a:graphicFrameLocks noChangeAspect="1"/>
          </p:cNvGraphicFramePr>
          <p:nvPr/>
        </p:nvGraphicFramePr>
        <p:xfrm>
          <a:off x="395288" y="1622425"/>
          <a:ext cx="6119812" cy="389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209822" imgH="1200150" progId="Equation.3">
                  <p:embed/>
                </p:oleObj>
              </mc:Choice>
              <mc:Fallback>
                <p:oleObj name="公式" r:id="rId5" imgW="1209822" imgH="120015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622425"/>
                        <a:ext cx="6119812" cy="3897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50" name="Rectangle 18"/>
          <p:cNvSpPr>
            <a:spLocks noChangeArrowheads="1"/>
          </p:cNvSpPr>
          <p:nvPr/>
        </p:nvSpPr>
        <p:spPr bwMode="auto">
          <a:xfrm>
            <a:off x="6588125" y="1624013"/>
            <a:ext cx="2447925" cy="1150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i="1">
                <a:ea typeface="楷体_GB2312" pitchFamily="49" charset="-122"/>
                <a:cs typeface="Arial" panose="020B0604020202020204" pitchFamily="34" charset="0"/>
              </a:rPr>
              <a:t>X </a:t>
            </a:r>
            <a:r>
              <a:rPr lang="zh-CN" altLang="en-US">
                <a:latin typeface="楷体_GB2312" pitchFamily="49" charset="-122"/>
                <a:ea typeface="楷体_GB2312" pitchFamily="49" charset="-122"/>
                <a:cs typeface="Arial" panose="020B0604020202020204" pitchFamily="34" charset="0"/>
              </a:rPr>
              <a:t>的不确定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>
                <a:latin typeface="楷体_GB2312" pitchFamily="49" charset="-122"/>
                <a:ea typeface="楷体_GB2312" pitchFamily="49" charset="-122"/>
                <a:cs typeface="Arial" panose="020B0604020202020204" pitchFamily="34" charset="0"/>
              </a:rPr>
              <a:t>程度</a:t>
            </a:r>
            <a:r>
              <a:rPr lang="zh-CN" altLang="en-US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Arial" panose="020B0604020202020204" pitchFamily="34" charset="0"/>
              </a:rPr>
              <a:t>最小</a:t>
            </a:r>
            <a:endParaRPr lang="en-US" altLang="zh-CN">
              <a:solidFill>
                <a:schemeClr val="folHlink"/>
              </a:solidFill>
              <a:latin typeface="楷体_GB2312" pitchFamily="49" charset="-122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69651" name="Rectangle 19"/>
          <p:cNvSpPr>
            <a:spLocks noChangeArrowheads="1"/>
          </p:cNvSpPr>
          <p:nvPr/>
        </p:nvSpPr>
        <p:spPr bwMode="auto">
          <a:xfrm>
            <a:off x="6372225" y="4287838"/>
            <a:ext cx="2447925" cy="1150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i="1">
                <a:ea typeface="楷体_GB2312" pitchFamily="49" charset="-122"/>
                <a:cs typeface="Arial" panose="020B0604020202020204" pitchFamily="34" charset="0"/>
              </a:rPr>
              <a:t>Z </a:t>
            </a:r>
            <a:r>
              <a:rPr lang="zh-CN" altLang="en-US">
                <a:latin typeface="楷体_GB2312" pitchFamily="49" charset="-122"/>
                <a:ea typeface="楷体_GB2312" pitchFamily="49" charset="-122"/>
                <a:cs typeface="Arial" panose="020B0604020202020204" pitchFamily="34" charset="0"/>
              </a:rPr>
              <a:t>的不确定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>
                <a:latin typeface="楷体_GB2312" pitchFamily="49" charset="-122"/>
                <a:ea typeface="楷体_GB2312" pitchFamily="49" charset="-122"/>
                <a:cs typeface="Arial" panose="020B0604020202020204" pitchFamily="34" charset="0"/>
              </a:rPr>
              <a:t>程度</a:t>
            </a:r>
            <a:r>
              <a:rPr lang="zh-CN" altLang="en-US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Arial" panose="020B0604020202020204" pitchFamily="34" charset="0"/>
              </a:rPr>
              <a:t>最大</a:t>
            </a:r>
            <a:endParaRPr lang="en-US" altLang="zh-CN">
              <a:solidFill>
                <a:schemeClr val="folHlink"/>
              </a:solidFill>
              <a:latin typeface="楷体_GB2312" pitchFamily="49" charset="-122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69652" name="Rectangle 20"/>
          <p:cNvSpPr>
            <a:spLocks noChangeArrowheads="1"/>
          </p:cNvSpPr>
          <p:nvPr/>
        </p:nvSpPr>
        <p:spPr bwMode="auto">
          <a:xfrm>
            <a:off x="250825" y="5807075"/>
            <a:ext cx="889317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A0059"/>
                </a:solidFill>
                <a:ea typeface="楷体_GB2312" pitchFamily="49" charset="-122"/>
                <a:cs typeface="Arial" panose="020B0604020202020204" pitchFamily="34" charset="0"/>
              </a:rPr>
              <a:t>等概率分布时，随机变量的不确定性程度最大。</a:t>
            </a:r>
            <a:endParaRPr lang="en-US" altLang="zh-CN">
              <a:solidFill>
                <a:srgbClr val="FA0059"/>
              </a:solidFill>
              <a:latin typeface="楷体_GB2312" pitchFamily="49" charset="-122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15369" name="Rectangle 24"/>
          <p:cNvSpPr>
            <a:spLocks noChangeArrowheads="1"/>
          </p:cNvSpPr>
          <p:nvPr/>
        </p:nvSpPr>
        <p:spPr bwMode="auto">
          <a:xfrm>
            <a:off x="0" y="620713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993300"/>
                </a:solidFill>
                <a:latin typeface="Times New Roman" panose="02020603050405020304" pitchFamily="18" charset="0"/>
              </a:rPr>
              <a:t>信源模型</a:t>
            </a:r>
            <a:endParaRPr kumimoji="1" lang="zh-CN" altLang="en-US" sz="280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70" name="Text Box 25"/>
          <p:cNvSpPr txBox="1">
            <a:spLocks noChangeArrowheads="1"/>
          </p:cNvSpPr>
          <p:nvPr/>
        </p:nvSpPr>
        <p:spPr bwMode="auto">
          <a:xfrm>
            <a:off x="34925" y="92075"/>
            <a:ext cx="2881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信息与信息论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10"/>
          <p:cNvSpPr>
            <a:spLocks noChangeArrowheads="1"/>
          </p:cNvSpPr>
          <p:nvPr/>
        </p:nvSpPr>
        <p:spPr bwMode="auto">
          <a:xfrm>
            <a:off x="0" y="620713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993300"/>
                </a:solidFill>
                <a:latin typeface="Times New Roman" panose="02020603050405020304" pitchFamily="18" charset="0"/>
              </a:rPr>
              <a:t>信源模型</a:t>
            </a:r>
            <a:endParaRPr kumimoji="1" lang="zh-CN" altLang="en-US" sz="280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68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250825" y="1233488"/>
            <a:ext cx="8569325" cy="611187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/>
              <a:t>     两个随机变量 </a:t>
            </a:r>
            <a:r>
              <a:rPr lang="en-US" altLang="zh-CN"/>
              <a:t>X,Y </a:t>
            </a:r>
            <a:r>
              <a:rPr lang="zh-CN" altLang="en-US"/>
              <a:t>的密度矩阵为</a:t>
            </a:r>
          </a:p>
        </p:txBody>
      </p:sp>
      <p:graphicFrame>
        <p:nvGraphicFramePr>
          <p:cNvPr id="70669" name="Object 13"/>
          <p:cNvGraphicFramePr>
            <a:graphicFrameLocks noChangeAspect="1"/>
          </p:cNvGraphicFramePr>
          <p:nvPr/>
        </p:nvGraphicFramePr>
        <p:xfrm>
          <a:off x="468313" y="2030413"/>
          <a:ext cx="5975350" cy="3871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47773" imgH="1343127" progId="Equation.3">
                  <p:embed/>
                </p:oleObj>
              </mc:Choice>
              <mc:Fallback>
                <p:oleObj name="Equation" r:id="rId3" imgW="2247773" imgH="134312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030413"/>
                        <a:ext cx="5975350" cy="3871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70" name="Rectangle 14"/>
          <p:cNvSpPr>
            <a:spLocks noChangeArrowheads="1"/>
          </p:cNvSpPr>
          <p:nvPr/>
        </p:nvSpPr>
        <p:spPr bwMode="auto">
          <a:xfrm>
            <a:off x="6586538" y="4438650"/>
            <a:ext cx="2089150" cy="1150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i="1">
                <a:ea typeface="楷体_GB2312" pitchFamily="49" charset="-122"/>
                <a:cs typeface="Arial" panose="020B0604020202020204" pitchFamily="34" charset="0"/>
              </a:rPr>
              <a:t>Y </a:t>
            </a:r>
            <a:r>
              <a:rPr lang="zh-CN" altLang="en-US">
                <a:latin typeface="楷体_GB2312" pitchFamily="49" charset="-122"/>
                <a:ea typeface="楷体_GB2312" pitchFamily="49" charset="-122"/>
                <a:cs typeface="Arial" panose="020B0604020202020204" pitchFamily="34" charset="0"/>
              </a:rPr>
              <a:t>的不确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>
                <a:latin typeface="楷体_GB2312" pitchFamily="49" charset="-122"/>
                <a:ea typeface="楷体_GB2312" pitchFamily="49" charset="-122"/>
                <a:cs typeface="Arial" panose="020B0604020202020204" pitchFamily="34" charset="0"/>
              </a:rPr>
              <a:t>定程度</a:t>
            </a:r>
            <a:r>
              <a:rPr lang="zh-CN" altLang="en-US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Arial" panose="020B0604020202020204" pitchFamily="34" charset="0"/>
              </a:rPr>
              <a:t>小</a:t>
            </a:r>
            <a:endParaRPr lang="en-US" altLang="zh-CN">
              <a:solidFill>
                <a:schemeClr val="folHlink"/>
              </a:solidFill>
              <a:latin typeface="楷体_GB2312" pitchFamily="49" charset="-122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70671" name="Rectangle 15"/>
          <p:cNvSpPr>
            <a:spLocks noChangeArrowheads="1"/>
          </p:cNvSpPr>
          <p:nvPr/>
        </p:nvSpPr>
        <p:spPr bwMode="auto">
          <a:xfrm>
            <a:off x="6588125" y="2351088"/>
            <a:ext cx="2447925" cy="1150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i="1">
                <a:ea typeface="楷体_GB2312" pitchFamily="49" charset="-122"/>
                <a:cs typeface="Arial" panose="020B0604020202020204" pitchFamily="34" charset="0"/>
              </a:rPr>
              <a:t>X </a:t>
            </a:r>
            <a:r>
              <a:rPr lang="zh-CN" altLang="en-US">
                <a:latin typeface="楷体_GB2312" pitchFamily="49" charset="-122"/>
                <a:ea typeface="楷体_GB2312" pitchFamily="49" charset="-122"/>
                <a:cs typeface="Arial" panose="020B0604020202020204" pitchFamily="34" charset="0"/>
              </a:rPr>
              <a:t>的不确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>
                <a:latin typeface="楷体_GB2312" pitchFamily="49" charset="-122"/>
                <a:ea typeface="楷体_GB2312" pitchFamily="49" charset="-122"/>
                <a:cs typeface="Arial" panose="020B0604020202020204" pitchFamily="34" charset="0"/>
              </a:rPr>
              <a:t>定程度</a:t>
            </a:r>
            <a:r>
              <a:rPr lang="zh-CN" altLang="en-US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Arial" panose="020B0604020202020204" pitchFamily="34" charset="0"/>
              </a:rPr>
              <a:t>大</a:t>
            </a:r>
            <a:endParaRPr lang="en-US" altLang="zh-CN">
              <a:solidFill>
                <a:schemeClr val="folHlink"/>
              </a:solidFill>
              <a:latin typeface="楷体_GB2312" pitchFamily="49" charset="-122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70672" name="Rectangle 16"/>
          <p:cNvSpPr>
            <a:spLocks noChangeArrowheads="1"/>
          </p:cNvSpPr>
          <p:nvPr/>
        </p:nvSpPr>
        <p:spPr bwMode="auto">
          <a:xfrm>
            <a:off x="0" y="6165850"/>
            <a:ext cx="903605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A0059"/>
                </a:solidFill>
                <a:ea typeface="楷体_GB2312" pitchFamily="49" charset="-122"/>
                <a:cs typeface="Arial" panose="020B0604020202020204" pitchFamily="34" charset="0"/>
              </a:rPr>
              <a:t>均等概率分布时，样本数多的不确定性程度最大</a:t>
            </a:r>
            <a:endParaRPr lang="en-US" altLang="zh-CN">
              <a:solidFill>
                <a:srgbClr val="FA0059"/>
              </a:solidFill>
              <a:latin typeface="楷体_GB2312" pitchFamily="49" charset="-122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16393" name="Text Box 20"/>
          <p:cNvSpPr txBox="1">
            <a:spLocks noChangeArrowheads="1"/>
          </p:cNvSpPr>
          <p:nvPr/>
        </p:nvSpPr>
        <p:spPr bwMode="auto">
          <a:xfrm>
            <a:off x="34925" y="92075"/>
            <a:ext cx="2881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信息与信息论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Rectangle 4"/>
          <p:cNvSpPr>
            <a:spLocks noChangeArrowheads="1"/>
          </p:cNvSpPr>
          <p:nvPr/>
        </p:nvSpPr>
        <p:spPr bwMode="auto">
          <a:xfrm>
            <a:off x="0" y="620713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993300"/>
                </a:solidFill>
                <a:latin typeface="Times New Roman" panose="02020603050405020304" pitchFamily="18" charset="0"/>
              </a:rPr>
              <a:t>自信息</a:t>
            </a:r>
            <a:endParaRPr kumimoji="1" lang="zh-CN" altLang="en-US" sz="280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268413"/>
            <a:ext cx="7283450" cy="388937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/>
              <a:t>     自信息为先验概率的函数：</a:t>
            </a:r>
            <a:endParaRPr lang="en-US" altLang="zh-CN" i="1"/>
          </a:p>
        </p:txBody>
      </p:sp>
      <p:graphicFrame>
        <p:nvGraphicFramePr>
          <p:cNvPr id="17413" name="Object 14"/>
          <p:cNvGraphicFramePr>
            <a:graphicFrameLocks noGrp="1" noChangeAspect="1"/>
          </p:cNvGraphicFramePr>
          <p:nvPr>
            <p:ph sz="half" idx="2"/>
          </p:nvPr>
        </p:nvGraphicFramePr>
        <p:xfrm>
          <a:off x="5580063" y="1268413"/>
          <a:ext cx="2592387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016000" imgH="203200" progId="Equation.3">
                  <p:embed/>
                </p:oleObj>
              </mc:Choice>
              <mc:Fallback>
                <p:oleObj name="公式" r:id="rId3" imgW="1016000" imgH="203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268413"/>
                        <a:ext cx="2592387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Text Box 16"/>
          <p:cNvSpPr txBox="1">
            <a:spLocks noChangeArrowheads="1"/>
          </p:cNvSpPr>
          <p:nvPr/>
        </p:nvSpPr>
        <p:spPr bwMode="auto">
          <a:xfrm>
            <a:off x="684213" y="1916113"/>
            <a:ext cx="7920037" cy="2443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800">
                <a:solidFill>
                  <a:srgbClr val="CC33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>
                <a:solidFill>
                  <a:srgbClr val="CC3300"/>
                </a:solidFill>
                <a:latin typeface="Arial" panose="020B0604020202020204" pitchFamily="34" charset="0"/>
              </a:rPr>
              <a:t>I(x</a:t>
            </a:r>
            <a:r>
              <a:rPr lang="en-US" altLang="zh-CN" sz="2800" baseline="-25000">
                <a:solidFill>
                  <a:srgbClr val="CC3300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>
                <a:solidFill>
                  <a:srgbClr val="CC3300"/>
                </a:solidFill>
                <a:latin typeface="Arial" panose="020B0604020202020204" pitchFamily="34" charset="0"/>
              </a:rPr>
              <a:t>)</a:t>
            </a:r>
            <a:r>
              <a:rPr lang="zh-CN" altLang="en-US" sz="2800">
                <a:solidFill>
                  <a:srgbClr val="CC3300"/>
                </a:solidFill>
                <a:latin typeface="Arial" panose="020B0604020202020204" pitchFamily="34" charset="0"/>
              </a:rPr>
              <a:t>是</a:t>
            </a:r>
            <a:r>
              <a:rPr lang="en-US" altLang="zh-CN" sz="2800">
                <a:solidFill>
                  <a:srgbClr val="CC3300"/>
                </a:solidFill>
                <a:latin typeface="Arial" panose="020B0604020202020204" pitchFamily="34" charset="0"/>
              </a:rPr>
              <a:t>P(x</a:t>
            </a:r>
            <a:r>
              <a:rPr lang="en-US" altLang="zh-CN" sz="2800" baseline="-25000">
                <a:solidFill>
                  <a:srgbClr val="CC3300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>
                <a:solidFill>
                  <a:srgbClr val="CC3300"/>
                </a:solidFill>
                <a:latin typeface="Arial" panose="020B0604020202020204" pitchFamily="34" charset="0"/>
              </a:rPr>
              <a:t>)</a:t>
            </a:r>
            <a:r>
              <a:rPr lang="zh-CN" altLang="en-US" sz="2800">
                <a:solidFill>
                  <a:srgbClr val="CC3300"/>
                </a:solidFill>
                <a:latin typeface="Arial" panose="020B0604020202020204" pitchFamily="34" charset="0"/>
              </a:rPr>
              <a:t>的单调递减函数     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en-US" altLang="zh-CN" sz="2800">
                <a:solidFill>
                  <a:srgbClr val="CC3300"/>
                </a:solidFill>
                <a:latin typeface="Arial" panose="020B0604020202020204" pitchFamily="34" charset="0"/>
              </a:rPr>
              <a:t> P(x</a:t>
            </a:r>
            <a:r>
              <a:rPr lang="en-US" altLang="zh-CN" sz="2800" baseline="-25000">
                <a:solidFill>
                  <a:srgbClr val="CC3300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>
                <a:solidFill>
                  <a:srgbClr val="CC3300"/>
                </a:solidFill>
                <a:latin typeface="Arial" panose="020B0604020202020204" pitchFamily="34" charset="0"/>
              </a:rPr>
              <a:t>) = 1</a:t>
            </a:r>
            <a:r>
              <a:rPr lang="zh-CN" altLang="en-US" sz="2800">
                <a:solidFill>
                  <a:srgbClr val="CC3300"/>
                </a:solidFill>
                <a:latin typeface="Arial" panose="020B0604020202020204" pitchFamily="34" charset="0"/>
              </a:rPr>
              <a:t>时，</a:t>
            </a:r>
            <a:r>
              <a:rPr lang="en-US" altLang="zh-CN" sz="2800">
                <a:solidFill>
                  <a:srgbClr val="CC3300"/>
                </a:solidFill>
                <a:latin typeface="Arial" panose="020B0604020202020204" pitchFamily="34" charset="0"/>
              </a:rPr>
              <a:t>I(x</a:t>
            </a:r>
            <a:r>
              <a:rPr lang="en-US" altLang="zh-CN" sz="2800" baseline="-25000">
                <a:solidFill>
                  <a:srgbClr val="CC3300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>
                <a:solidFill>
                  <a:srgbClr val="CC3300"/>
                </a:solidFill>
                <a:latin typeface="Arial" panose="020B0604020202020204" pitchFamily="34" charset="0"/>
              </a:rPr>
              <a:t>) = 0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800">
                <a:solidFill>
                  <a:srgbClr val="CC33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>
                <a:solidFill>
                  <a:srgbClr val="CC3300"/>
                </a:solidFill>
                <a:latin typeface="Arial" panose="020B0604020202020204" pitchFamily="34" charset="0"/>
              </a:rPr>
              <a:t>P(xi) = 0</a:t>
            </a:r>
            <a:r>
              <a:rPr lang="zh-CN" altLang="en-US" sz="2800">
                <a:solidFill>
                  <a:srgbClr val="CC3300"/>
                </a:solidFill>
                <a:latin typeface="Arial" panose="020B0604020202020204" pitchFamily="34" charset="0"/>
              </a:rPr>
              <a:t>时，</a:t>
            </a:r>
            <a:r>
              <a:rPr lang="en-US" altLang="zh-CN" sz="2800">
                <a:solidFill>
                  <a:srgbClr val="CC3300"/>
                </a:solidFill>
                <a:latin typeface="Arial" panose="020B0604020202020204" pitchFamily="34" charset="0"/>
              </a:rPr>
              <a:t>I(xi) = </a:t>
            </a:r>
            <a:r>
              <a:rPr lang="zh-CN" altLang="en-US" sz="2800">
                <a:solidFill>
                  <a:srgbClr val="CC3300"/>
                </a:solidFill>
                <a:latin typeface="Arial" panose="020B0604020202020204" pitchFamily="34" charset="0"/>
              </a:rPr>
              <a:t>∞ 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800">
                <a:solidFill>
                  <a:srgbClr val="CC3300"/>
                </a:solidFill>
                <a:latin typeface="Arial" panose="020B0604020202020204" pitchFamily="34" charset="0"/>
              </a:rPr>
              <a:t> 两个独立事件的联合信息量等各自信息量的和</a:t>
            </a:r>
            <a:endParaRPr lang="en-US" altLang="zh-CN" sz="2800">
              <a:solidFill>
                <a:srgbClr val="CC3300"/>
              </a:solidFill>
              <a:latin typeface="Arial" panose="020B0604020202020204" pitchFamily="34" charset="0"/>
            </a:endParaRPr>
          </a:p>
        </p:txBody>
      </p:sp>
      <p:sp>
        <p:nvSpPr>
          <p:cNvPr id="17415" name="Rectangle 37"/>
          <p:cNvSpPr>
            <a:spLocks noChangeArrowheads="1"/>
          </p:cNvSpPr>
          <p:nvPr/>
        </p:nvSpPr>
        <p:spPr bwMode="auto">
          <a:xfrm>
            <a:off x="0" y="3211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17416" name="Object 36"/>
          <p:cNvGraphicFramePr>
            <a:graphicFrameLocks noChangeAspect="1"/>
          </p:cNvGraphicFramePr>
          <p:nvPr/>
        </p:nvGraphicFramePr>
        <p:xfrm>
          <a:off x="468313" y="4462463"/>
          <a:ext cx="7058025" cy="163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879600" imgH="431800" progId="Equation.3">
                  <p:embed/>
                </p:oleObj>
              </mc:Choice>
              <mc:Fallback>
                <p:oleObj name="公式" r:id="rId5" imgW="1879600" imgH="4318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462463"/>
                        <a:ext cx="7058025" cy="163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Text Box 38"/>
          <p:cNvSpPr txBox="1">
            <a:spLocks noChangeArrowheads="1"/>
          </p:cNvSpPr>
          <p:nvPr/>
        </p:nvSpPr>
        <p:spPr bwMode="auto">
          <a:xfrm>
            <a:off x="250825" y="5949950"/>
            <a:ext cx="85693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3600">
                <a:solidFill>
                  <a:schemeClr val="tx2"/>
                </a:solidFill>
                <a:latin typeface="Arial" panose="020B0604020202020204" pitchFamily="34" charset="0"/>
              </a:rPr>
              <a:t>比特</a:t>
            </a:r>
            <a:r>
              <a:rPr lang="en-US" altLang="zh-CN" sz="3600">
                <a:solidFill>
                  <a:schemeClr val="tx2"/>
                </a:solidFill>
                <a:latin typeface="Arial" panose="020B0604020202020204" pitchFamily="34" charset="0"/>
              </a:rPr>
              <a:t>(2)</a:t>
            </a:r>
            <a:r>
              <a:rPr lang="en-US" altLang="zh-CN" sz="3600">
                <a:latin typeface="Arial" panose="020B0604020202020204" pitchFamily="34" charset="0"/>
              </a:rPr>
              <a:t>             </a:t>
            </a:r>
            <a:r>
              <a:rPr lang="zh-CN" altLang="en-US" sz="3600">
                <a:solidFill>
                  <a:srgbClr val="008000"/>
                </a:solidFill>
                <a:latin typeface="Arial" panose="020B0604020202020204" pitchFamily="34" charset="0"/>
              </a:rPr>
              <a:t>奈特</a:t>
            </a:r>
            <a:r>
              <a:rPr lang="en-US" altLang="zh-CN" sz="3600">
                <a:solidFill>
                  <a:srgbClr val="008000"/>
                </a:solidFill>
                <a:latin typeface="Arial" panose="020B0604020202020204" pitchFamily="34" charset="0"/>
              </a:rPr>
              <a:t>(e)</a:t>
            </a:r>
            <a:r>
              <a:rPr lang="en-US" altLang="zh-CN" sz="3600">
                <a:latin typeface="Arial" panose="020B0604020202020204" pitchFamily="34" charset="0"/>
              </a:rPr>
              <a:t>            </a:t>
            </a:r>
            <a:r>
              <a:rPr lang="zh-CN" altLang="en-US" sz="3600">
                <a:solidFill>
                  <a:srgbClr val="FFCC00"/>
                </a:solidFill>
                <a:latin typeface="Arial" panose="020B0604020202020204" pitchFamily="34" charset="0"/>
              </a:rPr>
              <a:t>哈特</a:t>
            </a:r>
            <a:r>
              <a:rPr lang="en-US" altLang="zh-CN" sz="3600">
                <a:solidFill>
                  <a:srgbClr val="FFCC00"/>
                </a:solidFill>
                <a:latin typeface="Arial" panose="020B0604020202020204" pitchFamily="34" charset="0"/>
              </a:rPr>
              <a:t>(10)</a:t>
            </a:r>
          </a:p>
        </p:txBody>
      </p:sp>
      <p:sp>
        <p:nvSpPr>
          <p:cNvPr id="17418" name="Rectangle 40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17419" name="Object 39"/>
          <p:cNvGraphicFramePr>
            <a:graphicFrameLocks noChangeAspect="1"/>
          </p:cNvGraphicFramePr>
          <p:nvPr/>
        </p:nvGraphicFramePr>
        <p:xfrm>
          <a:off x="3924300" y="4292600"/>
          <a:ext cx="5219700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263900" imgH="203200" progId="Equation.3">
                  <p:embed/>
                </p:oleObj>
              </mc:Choice>
              <mc:Fallback>
                <p:oleObj name="公式" r:id="rId7" imgW="3263900" imgH="2032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4292600"/>
                        <a:ext cx="5219700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0" name="Text Box 41"/>
          <p:cNvSpPr txBox="1">
            <a:spLocks noChangeArrowheads="1"/>
          </p:cNvSpPr>
          <p:nvPr/>
        </p:nvSpPr>
        <p:spPr bwMode="auto">
          <a:xfrm>
            <a:off x="34925" y="92075"/>
            <a:ext cx="2881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信息与信息论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Rectangle 4"/>
          <p:cNvSpPr>
            <a:spLocks noChangeArrowheads="1"/>
          </p:cNvSpPr>
          <p:nvPr/>
        </p:nvSpPr>
        <p:spPr bwMode="auto">
          <a:xfrm>
            <a:off x="0" y="620713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993300"/>
                </a:solidFill>
                <a:latin typeface="Times New Roman" panose="02020603050405020304" pitchFamily="18" charset="0"/>
              </a:rPr>
              <a:t>信息熵</a:t>
            </a:r>
            <a:endParaRPr kumimoji="1" lang="zh-CN" altLang="en-US" sz="280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01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34925" y="1268413"/>
            <a:ext cx="8893175" cy="1223962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/>
              <a:t>        自信息</a:t>
            </a:r>
            <a:r>
              <a:rPr lang="en-US" altLang="zh-CN"/>
              <a:t>I(x</a:t>
            </a:r>
            <a:r>
              <a:rPr lang="en-US" altLang="zh-CN" baseline="-25000"/>
              <a:t>i</a:t>
            </a:r>
            <a:r>
              <a:rPr lang="en-US" altLang="zh-CN"/>
              <a:t>)</a:t>
            </a:r>
            <a:r>
              <a:rPr lang="zh-CN" altLang="en-US"/>
              <a:t>在</a:t>
            </a:r>
            <a:r>
              <a:rPr lang="en-US" altLang="zh-CN"/>
              <a:t>x</a:t>
            </a:r>
            <a:r>
              <a:rPr lang="en-US" altLang="zh-CN" baseline="-25000"/>
              <a:t>i</a:t>
            </a:r>
            <a:r>
              <a:rPr lang="zh-CN" altLang="en-US">
                <a:solidFill>
                  <a:srgbClr val="CC3300"/>
                </a:solidFill>
              </a:rPr>
              <a:t>发生前</a:t>
            </a:r>
            <a:r>
              <a:rPr lang="zh-CN" altLang="en-US"/>
              <a:t>表示其</a:t>
            </a:r>
            <a:r>
              <a:rPr lang="zh-CN" altLang="en-US">
                <a:solidFill>
                  <a:schemeClr val="hlink"/>
                </a:solidFill>
              </a:rPr>
              <a:t>不确定度</a:t>
            </a:r>
            <a:r>
              <a:rPr lang="zh-CN" altLang="en-US"/>
              <a:t>，</a:t>
            </a:r>
            <a:r>
              <a:rPr lang="zh-CN" altLang="en-US">
                <a:solidFill>
                  <a:srgbClr val="008000"/>
                </a:solidFill>
              </a:rPr>
              <a:t>发生后</a:t>
            </a:r>
            <a:r>
              <a:rPr lang="zh-CN" altLang="en-US"/>
              <a:t>表示</a:t>
            </a:r>
            <a:r>
              <a:rPr lang="en-US" altLang="zh-CN"/>
              <a:t>x</a:t>
            </a:r>
            <a:r>
              <a:rPr lang="en-US" altLang="zh-CN" baseline="-25000"/>
              <a:t>i</a:t>
            </a:r>
            <a:r>
              <a:rPr lang="zh-CN" altLang="en-US"/>
              <a:t>包含的</a:t>
            </a:r>
            <a:r>
              <a:rPr lang="zh-CN" altLang="en-US">
                <a:solidFill>
                  <a:schemeClr val="hlink"/>
                </a:solidFill>
              </a:rPr>
              <a:t>信息量</a:t>
            </a:r>
            <a:r>
              <a:rPr lang="zh-CN" altLang="en-US"/>
              <a:t>。</a:t>
            </a:r>
            <a:endParaRPr lang="zh-CN" altLang="en-US" i="1"/>
          </a:p>
        </p:txBody>
      </p:sp>
      <p:sp>
        <p:nvSpPr>
          <p:cNvPr id="18437" name="Rectangle 13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18438" name="Object 12"/>
          <p:cNvGraphicFramePr>
            <a:graphicFrameLocks noChangeAspect="1"/>
          </p:cNvGraphicFramePr>
          <p:nvPr/>
        </p:nvGraphicFramePr>
        <p:xfrm>
          <a:off x="1981200" y="2708275"/>
          <a:ext cx="7127875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705100" imgH="254000" progId="Equation.3">
                  <p:embed/>
                </p:oleObj>
              </mc:Choice>
              <mc:Fallback>
                <p:oleObj name="公式" r:id="rId3" imgW="2705100" imgH="254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708275"/>
                        <a:ext cx="7127875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Text Box 14"/>
          <p:cNvSpPr txBox="1">
            <a:spLocks noChangeArrowheads="1"/>
          </p:cNvSpPr>
          <p:nvPr/>
        </p:nvSpPr>
        <p:spPr bwMode="auto">
          <a:xfrm>
            <a:off x="0" y="2781300"/>
            <a:ext cx="25558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8000"/>
                </a:solidFill>
              </a:rPr>
              <a:t>山农熵定义：</a:t>
            </a:r>
            <a:endParaRPr lang="en-US" altLang="zh-CN" sz="2800" b="1">
              <a:solidFill>
                <a:srgbClr val="008000"/>
              </a:solidFill>
            </a:endParaRPr>
          </a:p>
        </p:txBody>
      </p:sp>
      <p:sp>
        <p:nvSpPr>
          <p:cNvPr id="18440" name="Text Box 15"/>
          <p:cNvSpPr txBox="1">
            <a:spLocks noChangeArrowheads="1"/>
          </p:cNvSpPr>
          <p:nvPr/>
        </p:nvSpPr>
        <p:spPr bwMode="auto">
          <a:xfrm>
            <a:off x="5830888" y="3429000"/>
            <a:ext cx="33131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rgbClr val="008000"/>
                </a:solidFill>
              </a:rPr>
              <a:t>单位为：</a:t>
            </a:r>
            <a:r>
              <a:rPr lang="en-US" altLang="zh-CN" sz="2000">
                <a:solidFill>
                  <a:srgbClr val="008000"/>
                </a:solidFill>
              </a:rPr>
              <a:t>bit/</a:t>
            </a:r>
            <a:r>
              <a:rPr lang="zh-CN" altLang="en-US" sz="2000">
                <a:solidFill>
                  <a:srgbClr val="008000"/>
                </a:solidFill>
              </a:rPr>
              <a:t>事件或</a:t>
            </a:r>
            <a:r>
              <a:rPr lang="en-US" altLang="zh-CN" sz="2000">
                <a:solidFill>
                  <a:srgbClr val="008000"/>
                </a:solidFill>
              </a:rPr>
              <a:t>bit/</a:t>
            </a:r>
            <a:r>
              <a:rPr lang="zh-CN" altLang="en-US" sz="2000">
                <a:solidFill>
                  <a:srgbClr val="008000"/>
                </a:solidFill>
              </a:rPr>
              <a:t>符号</a:t>
            </a:r>
          </a:p>
        </p:txBody>
      </p:sp>
      <p:sp>
        <p:nvSpPr>
          <p:cNvPr id="18441" name="Rectangle 17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18442" name="Object 16"/>
          <p:cNvGraphicFramePr>
            <a:graphicFrameLocks noChangeAspect="1"/>
          </p:cNvGraphicFramePr>
          <p:nvPr/>
        </p:nvGraphicFramePr>
        <p:xfrm>
          <a:off x="323850" y="4076700"/>
          <a:ext cx="4319588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587500" imgH="457200" progId="Equation.3">
                  <p:embed/>
                </p:oleObj>
              </mc:Choice>
              <mc:Fallback>
                <p:oleObj name="公式" r:id="rId5" imgW="1587500" imgH="4572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076700"/>
                        <a:ext cx="4319588" cy="124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3" name="Rectangle 19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18444" name="Object 18"/>
          <p:cNvGraphicFramePr>
            <a:graphicFrameLocks noChangeAspect="1"/>
          </p:cNvGraphicFramePr>
          <p:nvPr/>
        </p:nvGraphicFramePr>
        <p:xfrm>
          <a:off x="5219700" y="4076700"/>
          <a:ext cx="360045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409700" imgH="457200" progId="Equation.3">
                  <p:embed/>
                </p:oleObj>
              </mc:Choice>
              <mc:Fallback>
                <p:oleObj name="公式" r:id="rId7" imgW="1409700" imgH="4572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4076700"/>
                        <a:ext cx="360045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5" name="Text Box 20"/>
          <p:cNvSpPr txBox="1">
            <a:spLocks noChangeArrowheads="1"/>
          </p:cNvSpPr>
          <p:nvPr/>
        </p:nvSpPr>
        <p:spPr bwMode="auto">
          <a:xfrm>
            <a:off x="34925" y="5635625"/>
            <a:ext cx="4824413" cy="1074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chemeClr val="tx2"/>
                </a:solidFill>
              </a:rPr>
              <a:t>H(x)=(-0.99log0.99-0.01log0.01)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chemeClr val="tx2"/>
                </a:solidFill>
              </a:rPr>
              <a:t>=0.08(bit/</a:t>
            </a:r>
            <a:r>
              <a:rPr lang="zh-CN" altLang="en-US" sz="2800">
                <a:solidFill>
                  <a:schemeClr val="tx2"/>
                </a:solidFill>
              </a:rPr>
              <a:t>事件</a:t>
            </a:r>
            <a:r>
              <a:rPr lang="en-US" altLang="zh-CN" sz="280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18446" name="Text Box 21"/>
          <p:cNvSpPr txBox="1">
            <a:spLocks noChangeArrowheads="1"/>
          </p:cNvSpPr>
          <p:nvPr/>
        </p:nvSpPr>
        <p:spPr bwMode="auto">
          <a:xfrm>
            <a:off x="4932363" y="5616575"/>
            <a:ext cx="4175125" cy="1074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chemeClr val="folHlink"/>
                </a:solidFill>
              </a:rPr>
              <a:t>H(x)=(-0.5log0.5-0.5log0.5)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chemeClr val="folHlink"/>
                </a:solidFill>
              </a:rPr>
              <a:t>=1(bit/</a:t>
            </a:r>
            <a:r>
              <a:rPr lang="zh-CN" altLang="en-US" sz="2800">
                <a:solidFill>
                  <a:schemeClr val="folHlink"/>
                </a:solidFill>
              </a:rPr>
              <a:t>事件</a:t>
            </a:r>
            <a:r>
              <a:rPr lang="en-US" altLang="zh-CN" sz="2800">
                <a:solidFill>
                  <a:schemeClr val="folHlink"/>
                </a:solidFill>
              </a:rPr>
              <a:t>)</a:t>
            </a:r>
            <a:endParaRPr lang="zh-CN" altLang="en-US" sz="2800">
              <a:solidFill>
                <a:schemeClr val="folHlink"/>
              </a:solidFill>
            </a:endParaRPr>
          </a:p>
        </p:txBody>
      </p:sp>
      <p:sp>
        <p:nvSpPr>
          <p:cNvPr id="18447" name="Text Box 22"/>
          <p:cNvSpPr txBox="1">
            <a:spLocks noChangeArrowheads="1"/>
          </p:cNvSpPr>
          <p:nvPr/>
        </p:nvSpPr>
        <p:spPr bwMode="auto">
          <a:xfrm>
            <a:off x="34925" y="92075"/>
            <a:ext cx="2881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信息与信息论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Rectangle 4"/>
          <p:cNvSpPr>
            <a:spLocks noChangeArrowheads="1"/>
          </p:cNvSpPr>
          <p:nvPr/>
        </p:nvSpPr>
        <p:spPr bwMode="auto">
          <a:xfrm>
            <a:off x="0" y="620713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993300"/>
                </a:solidFill>
                <a:latin typeface="Times New Roman" panose="02020603050405020304" pitchFamily="18" charset="0"/>
              </a:rPr>
              <a:t>信息熵基本性质</a:t>
            </a:r>
            <a:endParaRPr kumimoji="1" lang="zh-CN" altLang="en-US" sz="280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0" name="Text Box 17"/>
          <p:cNvSpPr txBox="1">
            <a:spLocks noChangeArrowheads="1"/>
          </p:cNvSpPr>
          <p:nvPr/>
        </p:nvSpPr>
        <p:spPr bwMode="auto">
          <a:xfrm>
            <a:off x="179388" y="1125538"/>
            <a:ext cx="1871662" cy="4973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 对称性</a:t>
            </a:r>
          </a:p>
          <a:p>
            <a:pPr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</a:rPr>
              <a:t>确定性</a:t>
            </a:r>
          </a:p>
          <a:p>
            <a:pPr>
              <a:lnSpc>
                <a:spcPct val="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endParaRPr lang="zh-CN" altLang="en-US">
              <a:solidFill>
                <a:schemeClr val="folHlink"/>
              </a:solidFill>
            </a:endParaRPr>
          </a:p>
          <a:p>
            <a:pPr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 非负性</a:t>
            </a:r>
          </a:p>
          <a:p>
            <a:pPr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folHlink"/>
                </a:solidFill>
              </a:rPr>
              <a:t> 可加性</a:t>
            </a:r>
          </a:p>
          <a:p>
            <a:pPr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 极值性</a:t>
            </a:r>
          </a:p>
        </p:txBody>
      </p:sp>
      <p:sp>
        <p:nvSpPr>
          <p:cNvPr id="19461" name="Rectangle 19"/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19462" name="Object 18"/>
          <p:cNvGraphicFramePr>
            <a:graphicFrameLocks noChangeAspect="1"/>
          </p:cNvGraphicFramePr>
          <p:nvPr/>
        </p:nvGraphicFramePr>
        <p:xfrm>
          <a:off x="2051050" y="1125538"/>
          <a:ext cx="709295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619500" imgH="457200" progId="Equation.3">
                  <p:embed/>
                </p:oleObj>
              </mc:Choice>
              <mc:Fallback>
                <p:oleObj name="公式" r:id="rId3" imgW="3619500" imgH="4572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125538"/>
                        <a:ext cx="7092950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Text Box 20"/>
          <p:cNvSpPr txBox="1">
            <a:spLocks noChangeArrowheads="1"/>
          </p:cNvSpPr>
          <p:nvPr/>
        </p:nvSpPr>
        <p:spPr bwMode="auto">
          <a:xfrm>
            <a:off x="2124075" y="2349500"/>
            <a:ext cx="7019925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chemeClr val="folHlink"/>
                </a:solidFill>
              </a:rPr>
              <a:t>如果只有一状态为必然，则</a:t>
            </a:r>
            <a:r>
              <a:rPr lang="en-US" altLang="zh-CN" sz="2400" b="1">
                <a:solidFill>
                  <a:schemeClr val="folHlink"/>
                </a:solidFill>
              </a:rPr>
              <a:t>P(x</a:t>
            </a:r>
            <a:r>
              <a:rPr lang="en-US" altLang="zh-CN" sz="2400" b="1" baseline="-25000">
                <a:solidFill>
                  <a:schemeClr val="folHlink"/>
                </a:solidFill>
              </a:rPr>
              <a:t>1</a:t>
            </a:r>
            <a:r>
              <a:rPr lang="en-US" altLang="zh-CN" sz="2400" b="1">
                <a:solidFill>
                  <a:schemeClr val="folHlink"/>
                </a:solidFill>
              </a:rPr>
              <a:t>)=1,P(x</a:t>
            </a:r>
            <a:r>
              <a:rPr lang="en-US" altLang="zh-CN" sz="2400" b="1" baseline="-25000">
                <a:solidFill>
                  <a:schemeClr val="folHlink"/>
                </a:solidFill>
              </a:rPr>
              <a:t>2</a:t>
            </a:r>
            <a:r>
              <a:rPr lang="en-US" altLang="zh-CN" sz="2400" b="1">
                <a:solidFill>
                  <a:schemeClr val="folHlink"/>
                </a:solidFill>
              </a:rPr>
              <a:t>)=P(x</a:t>
            </a:r>
            <a:r>
              <a:rPr lang="en-US" altLang="zh-CN" sz="2400" b="1" baseline="-25000">
                <a:solidFill>
                  <a:schemeClr val="folHlink"/>
                </a:solidFill>
              </a:rPr>
              <a:t>3</a:t>
            </a:r>
            <a:r>
              <a:rPr lang="en-US" altLang="zh-CN" sz="2400" b="1">
                <a:solidFill>
                  <a:schemeClr val="folHlink"/>
                </a:solidFill>
              </a:rPr>
              <a:t>)=…=0</a:t>
            </a:r>
            <a:endParaRPr lang="zh-CN" altLang="en-US" sz="2400" b="1">
              <a:solidFill>
                <a:schemeClr val="folHlink"/>
              </a:solidFill>
            </a:endParaRPr>
          </a:p>
        </p:txBody>
      </p:sp>
      <p:sp>
        <p:nvSpPr>
          <p:cNvPr id="19464" name="Rectangle 22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19465" name="Object 21"/>
          <p:cNvGraphicFramePr>
            <a:graphicFrameLocks noChangeAspect="1"/>
          </p:cNvGraphicFramePr>
          <p:nvPr/>
        </p:nvGraphicFramePr>
        <p:xfrm>
          <a:off x="2268538" y="2708275"/>
          <a:ext cx="4967287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273300" imgH="457200" progId="Equation.3">
                  <p:embed/>
                </p:oleObj>
              </mc:Choice>
              <mc:Fallback>
                <p:oleObj name="公式" r:id="rId5" imgW="2273300" imgH="4572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708275"/>
                        <a:ext cx="4967287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6" name="Rectangle 26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19467" name="Object 25"/>
          <p:cNvGraphicFramePr>
            <a:graphicFrameLocks noChangeAspect="1"/>
          </p:cNvGraphicFramePr>
          <p:nvPr/>
        </p:nvGraphicFramePr>
        <p:xfrm>
          <a:off x="2195513" y="3573463"/>
          <a:ext cx="49688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209800" imgH="228600" progId="Equation.3">
                  <p:embed/>
                </p:oleObj>
              </mc:Choice>
              <mc:Fallback>
                <p:oleObj name="公式" r:id="rId7" imgW="2209800" imgH="2286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3573463"/>
                        <a:ext cx="496887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8" name="Rectangle 28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19469" name="Object 27"/>
          <p:cNvGraphicFramePr>
            <a:graphicFrameLocks noChangeAspect="1"/>
          </p:cNvGraphicFramePr>
          <p:nvPr/>
        </p:nvGraphicFramePr>
        <p:xfrm>
          <a:off x="1979613" y="4365625"/>
          <a:ext cx="6624637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3175000" imgH="444500" progId="Equation.3">
                  <p:embed/>
                </p:oleObj>
              </mc:Choice>
              <mc:Fallback>
                <p:oleObj name="公式" r:id="rId9" imgW="3175000" imgH="4445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365625"/>
                        <a:ext cx="6624637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0" name="Rectangle 3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19471" name="Object 33"/>
          <p:cNvGraphicFramePr>
            <a:graphicFrameLocks noChangeAspect="1"/>
          </p:cNvGraphicFramePr>
          <p:nvPr/>
        </p:nvGraphicFramePr>
        <p:xfrm>
          <a:off x="1978025" y="5373688"/>
          <a:ext cx="48260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247900" imgH="431800" progId="Equation.3">
                  <p:embed/>
                </p:oleObj>
              </mc:Choice>
              <mc:Fallback>
                <p:oleObj name="公式" r:id="rId11" imgW="2247900" imgH="4318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025" y="5373688"/>
                        <a:ext cx="4826000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472" name="Picture 3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150" y="5300663"/>
            <a:ext cx="2228850" cy="155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473" name="Rectangle 38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19474" name="Object 37"/>
          <p:cNvGraphicFramePr>
            <a:graphicFrameLocks noChangeAspect="1"/>
          </p:cNvGraphicFramePr>
          <p:nvPr/>
        </p:nvGraphicFramePr>
        <p:xfrm>
          <a:off x="4427538" y="6264275"/>
          <a:ext cx="2376487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943100" imgH="482600" progId="Equation.3">
                  <p:embed/>
                </p:oleObj>
              </mc:Choice>
              <mc:Fallback>
                <p:oleObj name="公式" r:id="rId14" imgW="1943100" imgH="4826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6264275"/>
                        <a:ext cx="2376487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9" name="Text Box 39"/>
          <p:cNvSpPr txBox="1">
            <a:spLocks noChangeArrowheads="1"/>
          </p:cNvSpPr>
          <p:nvPr/>
        </p:nvSpPr>
        <p:spPr bwMode="auto">
          <a:xfrm>
            <a:off x="0" y="6308725"/>
            <a:ext cx="4427538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4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热力学熵不减，信息学熵不增</a:t>
            </a:r>
          </a:p>
        </p:txBody>
      </p:sp>
      <p:sp>
        <p:nvSpPr>
          <p:cNvPr id="19476" name="Text Box 40"/>
          <p:cNvSpPr txBox="1">
            <a:spLocks noChangeArrowheads="1"/>
          </p:cNvSpPr>
          <p:nvPr/>
        </p:nvSpPr>
        <p:spPr bwMode="auto">
          <a:xfrm>
            <a:off x="34925" y="92075"/>
            <a:ext cx="2881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信息与信息论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19"/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20484" name="Rectangle 22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20485" name="Rectangle 26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20486" name="Rectangle 28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20487" name="Rectangle 3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pic>
        <p:nvPicPr>
          <p:cNvPr id="20488" name="Picture 3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836613"/>
            <a:ext cx="2987675" cy="208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489" name="Rectangle 38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20490" name="Text Box 40"/>
          <p:cNvSpPr txBox="1">
            <a:spLocks noChangeArrowheads="1"/>
          </p:cNvSpPr>
          <p:nvPr/>
        </p:nvSpPr>
        <p:spPr bwMode="auto">
          <a:xfrm>
            <a:off x="34925" y="92075"/>
            <a:ext cx="2881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信息与信息论</a:t>
            </a:r>
          </a:p>
        </p:txBody>
      </p:sp>
      <p:graphicFrame>
        <p:nvGraphicFramePr>
          <p:cNvPr id="20491" name="Object 37"/>
          <p:cNvGraphicFramePr>
            <a:graphicFrameLocks noChangeAspect="1"/>
          </p:cNvGraphicFramePr>
          <p:nvPr/>
        </p:nvGraphicFramePr>
        <p:xfrm>
          <a:off x="4140200" y="1268413"/>
          <a:ext cx="4611688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43100" imgH="482600" progId="Equation.3">
                  <p:embed/>
                </p:oleObj>
              </mc:Choice>
              <mc:Fallback>
                <p:oleObj name="公式" r:id="rId4" imgW="1943100" imgH="4826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1268413"/>
                        <a:ext cx="4611688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2" name="矩形 2"/>
          <p:cNvSpPr>
            <a:spLocks noChangeArrowheads="1"/>
          </p:cNvSpPr>
          <p:nvPr/>
        </p:nvSpPr>
        <p:spPr bwMode="auto">
          <a:xfrm>
            <a:off x="7681913" y="3357563"/>
            <a:ext cx="14620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y=P(x</a:t>
            </a:r>
            <a:r>
              <a:rPr lang="en-US" altLang="zh-CN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20493" name="文本框 23"/>
          <p:cNvSpPr txBox="1">
            <a:spLocks noChangeArrowheads="1"/>
          </p:cNvSpPr>
          <p:nvPr/>
        </p:nvSpPr>
        <p:spPr bwMode="auto">
          <a:xfrm>
            <a:off x="468313" y="4005263"/>
            <a:ext cx="506095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       =-(ylog(y)+(1-y)log(1-y))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23528" y="4653136"/>
            <a:ext cx="2222468" cy="584775"/>
          </a:xfrm>
          <a:prstGeom prst="rect">
            <a:avLst/>
          </a:prstGeom>
          <a:blipFill rotWithShape="0">
            <a:blip r:embed="rId6"/>
            <a:stretch>
              <a:fillRect t="-12500" b="-34375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4" name="文本框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5536" y="5373216"/>
            <a:ext cx="7102009" cy="594906"/>
          </a:xfrm>
          <a:prstGeom prst="rect">
            <a:avLst/>
          </a:prstGeom>
          <a:blipFill rotWithShape="0">
            <a:blip r:embed="rId7"/>
            <a:stretch>
              <a:fillRect t="-17347" b="-26531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7" name="文本框 2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5536" y="6165304"/>
            <a:ext cx="3122650" cy="508024"/>
          </a:xfrm>
          <a:prstGeom prst="rect">
            <a:avLst/>
          </a:prstGeom>
          <a:blipFill rotWithShape="0">
            <a:blip r:embed="rId8"/>
            <a:stretch>
              <a:fillRect t="-19048" r="-7031" b="-4881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5" name="右箭头 4"/>
          <p:cNvSpPr/>
          <p:nvPr/>
        </p:nvSpPr>
        <p:spPr>
          <a:xfrm>
            <a:off x="3563938" y="6381750"/>
            <a:ext cx="287337" cy="1428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0498" name="文本框 28"/>
          <p:cNvSpPr txBox="1">
            <a:spLocks noChangeArrowheads="1"/>
          </p:cNvSpPr>
          <p:nvPr/>
        </p:nvSpPr>
        <p:spPr bwMode="auto">
          <a:xfrm>
            <a:off x="3924300" y="6165850"/>
            <a:ext cx="9096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/>
              <a:t>y=1-y</a:t>
            </a:r>
            <a:endParaRPr lang="zh-CN" altLang="en-US"/>
          </a:p>
        </p:txBody>
      </p:sp>
      <p:sp>
        <p:nvSpPr>
          <p:cNvPr id="20499" name="文本框 2"/>
          <p:cNvSpPr txBox="1">
            <a:spLocks noChangeArrowheads="1"/>
          </p:cNvSpPr>
          <p:nvPr/>
        </p:nvSpPr>
        <p:spPr bwMode="auto">
          <a:xfrm>
            <a:off x="323850" y="3357563"/>
            <a:ext cx="7200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H(X)=-(P(x</a:t>
            </a:r>
            <a:r>
              <a:rPr lang="en-US" altLang="zh-CN" baseline="-25000"/>
              <a:t>1</a:t>
            </a:r>
            <a:r>
              <a:rPr lang="en-US" altLang="zh-CN"/>
              <a:t>)log(P(x</a:t>
            </a:r>
            <a:r>
              <a:rPr lang="en-US" altLang="zh-CN" baseline="-25000"/>
              <a:t>1</a:t>
            </a:r>
            <a:r>
              <a:rPr lang="en-US" altLang="zh-CN"/>
              <a:t>))+(1-P(x</a:t>
            </a:r>
            <a:r>
              <a:rPr lang="en-US" altLang="zh-CN" baseline="-25000"/>
              <a:t>1</a:t>
            </a:r>
            <a:r>
              <a:rPr lang="en-US" altLang="zh-CN"/>
              <a:t>))log(1-P(x</a:t>
            </a:r>
            <a:r>
              <a:rPr lang="en-US" altLang="zh-CN" baseline="-25000"/>
              <a:t>1</a:t>
            </a:r>
            <a:r>
              <a:rPr lang="en-US" altLang="zh-CN"/>
              <a:t>)))</a:t>
            </a:r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0354E07-FEBB-702E-E9E0-5D231A7B726E}"/>
              </a:ext>
            </a:extLst>
          </p:cNvPr>
          <p:cNvSpPr txBox="1"/>
          <p:nvPr/>
        </p:nvSpPr>
        <p:spPr>
          <a:xfrm>
            <a:off x="6012160" y="5928214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消除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0886AE-A352-1A26-1432-AD2473CD5D5D}"/>
              </a:ext>
            </a:extLst>
          </p:cNvPr>
          <p:cNvSpPr txBox="1"/>
          <p:nvPr/>
        </p:nvSpPr>
        <p:spPr>
          <a:xfrm>
            <a:off x="2906486" y="5948168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消除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575B8-7FA6-F4DB-58D7-DA2528549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>
            <a:extLst>
              <a:ext uri="{FF2B5EF4-FFF2-40B4-BE49-F238E27FC236}">
                <a16:creationId xmlns:a16="http://schemas.microsoft.com/office/drawing/2014/main" id="{BB4E67E9-D020-8475-B6C9-8F0046FF2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90" name="Text Box 40">
            <a:extLst>
              <a:ext uri="{FF2B5EF4-FFF2-40B4-BE49-F238E27FC236}">
                <a16:creationId xmlns:a16="http://schemas.microsoft.com/office/drawing/2014/main" id="{43C17BDD-2019-2E2C-A682-3F035B2BF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92075"/>
            <a:ext cx="2881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信息与信息论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7B6779-1B5B-74A6-3B34-89344E2452D6}"/>
              </a:ext>
            </a:extLst>
          </p:cNvPr>
          <p:cNvSpPr txBox="1"/>
          <p:nvPr/>
        </p:nvSpPr>
        <p:spPr>
          <a:xfrm>
            <a:off x="4296" y="610151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i="0" dirty="0"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概率密度函数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A1F1D14-0C30-94AA-797D-7E6C5AE8B0B2}"/>
              </a:ext>
            </a:extLst>
          </p:cNvPr>
          <p:cNvSpPr txBox="1"/>
          <p:nvPr/>
        </p:nvSpPr>
        <p:spPr>
          <a:xfrm>
            <a:off x="179512" y="1159426"/>
            <a:ext cx="87129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概率密度函数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描述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连续型随机变量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的概率分布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在某个确定的取值点附近的可能性的函数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概率则为概率密度函数在某个区域上的积分。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3F51FA4-37BC-5D36-D8E7-07D3654977B1}"/>
                  </a:ext>
                </a:extLst>
              </p:cNvPr>
              <p:cNvSpPr txBox="1"/>
              <p:nvPr/>
            </p:nvSpPr>
            <p:spPr>
              <a:xfrm>
                <a:off x="251520" y="2016477"/>
                <a:ext cx="1756571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3F51FA4-37BC-5D36-D8E7-07D365497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016477"/>
                <a:ext cx="1756571" cy="5259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6106574-A353-50B5-A42E-CEBA1001FFD9}"/>
                  </a:ext>
                </a:extLst>
              </p:cNvPr>
              <p:cNvSpPr txBox="1"/>
              <p:nvPr/>
            </p:nvSpPr>
            <p:spPr>
              <a:xfrm>
                <a:off x="2123728" y="1919109"/>
                <a:ext cx="4599992" cy="720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6106574-A353-50B5-A42E-CEBA1001F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919109"/>
                <a:ext cx="4599992" cy="7206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544CEB5F-8283-4ED1-D41B-83A2038CDA2C}"/>
              </a:ext>
            </a:extLst>
          </p:cNvPr>
          <p:cNvSpPr txBox="1"/>
          <p:nvPr/>
        </p:nvSpPr>
        <p:spPr>
          <a:xfrm>
            <a:off x="107504" y="2553055"/>
            <a:ext cx="856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概率密度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025AD1-2695-26D1-778F-1AB7F1F02DC0}"/>
              </a:ext>
            </a:extLst>
          </p:cNvPr>
          <p:cNvSpPr txBox="1"/>
          <p:nvPr/>
        </p:nvSpPr>
        <p:spPr>
          <a:xfrm>
            <a:off x="3347864" y="2501256"/>
            <a:ext cx="856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概率分布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5F33A794-441F-FDA6-4850-5DC02E252C02}"/>
                  </a:ext>
                </a:extLst>
              </p:cNvPr>
              <p:cNvSpPr txBox="1"/>
              <p:nvPr/>
            </p:nvSpPr>
            <p:spPr>
              <a:xfrm>
                <a:off x="395536" y="2964819"/>
                <a:ext cx="9386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)≥0</m:t>
                      </m:r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5F33A794-441F-FDA6-4850-5DC02E252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964819"/>
                <a:ext cx="938654" cy="276999"/>
              </a:xfrm>
              <a:prstGeom prst="rect">
                <a:avLst/>
              </a:prstGeom>
              <a:blipFill>
                <a:blip r:embed="rId5"/>
                <a:stretch>
                  <a:fillRect l="-8442" t="-2174" r="-5195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073F597-A3F6-51E1-D761-180A3946D3F8}"/>
                  </a:ext>
                </a:extLst>
              </p:cNvPr>
              <p:cNvSpPr txBox="1"/>
              <p:nvPr/>
            </p:nvSpPr>
            <p:spPr>
              <a:xfrm>
                <a:off x="2266721" y="2833582"/>
                <a:ext cx="1664879" cy="612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073F597-A3F6-51E1-D761-180A3946D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6721" y="2833582"/>
                <a:ext cx="1664879" cy="6122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C5AAC5A-E524-6DAC-5D6B-9058917E6517}"/>
                  </a:ext>
                </a:extLst>
              </p:cNvPr>
              <p:cNvSpPr txBox="1"/>
              <p:nvPr/>
            </p:nvSpPr>
            <p:spPr>
              <a:xfrm>
                <a:off x="4572000" y="2804942"/>
                <a:ext cx="2703625" cy="6283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C5AAC5A-E524-6DAC-5D6B-9058917E6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804942"/>
                <a:ext cx="2703625" cy="6283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ED5AC8A3-0597-C9A4-9CCF-A0050FE294F4}"/>
              </a:ext>
            </a:extLst>
          </p:cNvPr>
          <p:cNvSpPr txBox="1"/>
          <p:nvPr/>
        </p:nvSpPr>
        <p:spPr>
          <a:xfrm>
            <a:off x="-86251" y="2976403"/>
            <a:ext cx="856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</a:t>
            </a:r>
            <a:r>
              <a:rPr lang="en-US" altLang="zh-CN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1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DBA308E-E3A9-41EA-3F5A-28517E856157}"/>
              </a:ext>
            </a:extLst>
          </p:cNvPr>
          <p:cNvSpPr txBox="1"/>
          <p:nvPr/>
        </p:nvSpPr>
        <p:spPr>
          <a:xfrm>
            <a:off x="1837257" y="2957540"/>
            <a:ext cx="856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</a:t>
            </a:r>
            <a:r>
              <a:rPr lang="en-US" altLang="zh-CN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sz="1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3E6A759-6BFE-8EE8-B709-7E484C8CFD88}"/>
              </a:ext>
            </a:extLst>
          </p:cNvPr>
          <p:cNvSpPr txBox="1"/>
          <p:nvPr/>
        </p:nvSpPr>
        <p:spPr>
          <a:xfrm>
            <a:off x="4090212" y="2954106"/>
            <a:ext cx="856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</a:t>
            </a:r>
            <a:r>
              <a:rPr lang="en-US" altLang="zh-CN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zh-CN" altLang="en-US" sz="1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6DDF8BB5-C998-6038-CE22-F1B7093EEE61}"/>
                  </a:ext>
                </a:extLst>
              </p:cNvPr>
              <p:cNvSpPr txBox="1"/>
              <p:nvPr/>
            </p:nvSpPr>
            <p:spPr>
              <a:xfrm>
                <a:off x="600" y="3662171"/>
                <a:ext cx="9113539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 正态分布</a:t>
                </a:r>
                <a:r>
                  <a:rPr lang="en-US" altLang="zh-CN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Normal distribution</a:t>
                </a:r>
                <a:r>
                  <a:rPr lang="en-US" altLang="zh-CN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)[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常态分布</a:t>
                </a:r>
                <a:r>
                  <a:rPr lang="en-US" altLang="zh-CN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][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高斯分布</a:t>
                </a:r>
                <a:r>
                  <a:rPr lang="en-US" altLang="zh-CN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],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记作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𝑋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是正态分布的数学期望</a:t>
                </a:r>
                <a:r>
                  <a:rPr lang="en-US" altLang="zh-CN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均值</a:t>
                </a:r>
                <a:r>
                  <a:rPr lang="en-US" altLang="zh-CN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),</a:t>
                </a:r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是正态分布的方差。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6DDF8BB5-C998-6038-CE22-F1B7093EE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" y="3662171"/>
                <a:ext cx="9113539" cy="707886"/>
              </a:xfrm>
              <a:prstGeom prst="rect">
                <a:avLst/>
              </a:prstGeom>
              <a:blipFill>
                <a:blip r:embed="rId8"/>
                <a:stretch>
                  <a:fillRect l="-669" t="-6897" b="-120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CD3D41EC-F044-AD1B-C26C-114C09CA37DF}"/>
                  </a:ext>
                </a:extLst>
              </p:cNvPr>
              <p:cNvSpPr txBox="1"/>
              <p:nvPr/>
            </p:nvSpPr>
            <p:spPr>
              <a:xfrm>
                <a:off x="186330" y="4565582"/>
                <a:ext cx="2235997" cy="619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1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zh-CN" alt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8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8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CD3D41EC-F044-AD1B-C26C-114C09CA3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30" y="4565582"/>
                <a:ext cx="2235997" cy="61959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>
            <a:extLst>
              <a:ext uri="{FF2B5EF4-FFF2-40B4-BE49-F238E27FC236}">
                <a16:creationId xmlns:a16="http://schemas.microsoft.com/office/drawing/2014/main" id="{428B0DFC-418E-A109-F4CC-ECE0AA6CAA05}"/>
              </a:ext>
            </a:extLst>
          </p:cNvPr>
          <p:cNvSpPr txBox="1"/>
          <p:nvPr/>
        </p:nvSpPr>
        <p:spPr>
          <a:xfrm>
            <a:off x="3390011" y="5279120"/>
            <a:ext cx="4616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标准正态分布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DEF3ABE-BD64-330A-0646-13C0A5B920E4}"/>
                  </a:ext>
                </a:extLst>
              </p:cNvPr>
              <p:cNvSpPr txBox="1"/>
              <p:nvPr/>
            </p:nvSpPr>
            <p:spPr>
              <a:xfrm>
                <a:off x="2886377" y="4608494"/>
                <a:ext cx="1722587" cy="5969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DEF3ABE-BD64-330A-0646-13C0A5B92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6377" y="4608494"/>
                <a:ext cx="1722587" cy="59695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图片 36" descr="图表, 折线图&#10;&#10;AI 生成的内容可能不正确。">
            <a:extLst>
              <a:ext uri="{FF2B5EF4-FFF2-40B4-BE49-F238E27FC236}">
                <a16:creationId xmlns:a16="http://schemas.microsoft.com/office/drawing/2014/main" id="{810E5D66-A4A5-E436-04F4-7CED9904372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4107524"/>
            <a:ext cx="2474782" cy="1581111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3178B2F1-4606-2508-D938-AB4DD879DF73}"/>
              </a:ext>
            </a:extLst>
          </p:cNvPr>
          <p:cNvSpPr txBox="1"/>
          <p:nvPr/>
        </p:nvSpPr>
        <p:spPr>
          <a:xfrm>
            <a:off x="467544" y="5276427"/>
            <a:ext cx="4616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正态分布</a:t>
            </a:r>
          </a:p>
        </p:txBody>
      </p:sp>
    </p:spTree>
    <p:extLst>
      <p:ext uri="{BB962C8B-B14F-4D97-AF65-F5344CB8AC3E}">
        <p14:creationId xmlns:p14="http://schemas.microsoft.com/office/powerpoint/2010/main" val="2195263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0" y="620713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993300"/>
                </a:solidFill>
                <a:latin typeface="Times New Roman" panose="02020603050405020304" pitchFamily="18" charset="0"/>
              </a:rPr>
              <a:t>连续信源的熵</a:t>
            </a:r>
            <a:endParaRPr kumimoji="1" lang="zh-CN" altLang="en-US" sz="280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8" name="Text Box 21"/>
          <p:cNvSpPr txBox="1">
            <a:spLocks noChangeArrowheads="1"/>
          </p:cNvSpPr>
          <p:nvPr/>
        </p:nvSpPr>
        <p:spPr bwMode="auto">
          <a:xfrm>
            <a:off x="755650" y="1125538"/>
            <a:ext cx="43926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/>
              <a:t>连续信源的数学模型为：</a:t>
            </a:r>
            <a:endParaRPr lang="en-US" altLang="zh-CN" sz="2800"/>
          </a:p>
        </p:txBody>
      </p:sp>
      <p:sp>
        <p:nvSpPr>
          <p:cNvPr id="21509" name="Rectangle 23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1510" name="Object 22"/>
          <p:cNvGraphicFramePr>
            <a:graphicFrameLocks noChangeAspect="1"/>
          </p:cNvGraphicFramePr>
          <p:nvPr/>
        </p:nvGraphicFramePr>
        <p:xfrm>
          <a:off x="34925" y="1628775"/>
          <a:ext cx="2665413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181100" imgH="457200" progId="Equation.3">
                  <p:embed/>
                </p:oleObj>
              </mc:Choice>
              <mc:Fallback>
                <p:oleObj name="公式" r:id="rId3" imgW="1181100" imgH="4572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1628775"/>
                        <a:ext cx="2665413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Rectangle 25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1512" name="Object 24"/>
          <p:cNvGraphicFramePr>
            <a:graphicFrameLocks noChangeAspect="1"/>
          </p:cNvGraphicFramePr>
          <p:nvPr/>
        </p:nvGraphicFramePr>
        <p:xfrm>
          <a:off x="4500563" y="1628775"/>
          <a:ext cx="2592387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55700" imgH="457200" progId="Equation.3">
                  <p:embed/>
                </p:oleObj>
              </mc:Choice>
              <mc:Fallback>
                <p:oleObj name="公式" r:id="rId5" imgW="1155700" imgH="4572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1628775"/>
                        <a:ext cx="2592387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Text Box 26"/>
          <p:cNvSpPr txBox="1">
            <a:spLocks noChangeArrowheads="1"/>
          </p:cNvSpPr>
          <p:nvPr/>
        </p:nvSpPr>
        <p:spPr bwMode="auto">
          <a:xfrm>
            <a:off x="3995738" y="1916113"/>
            <a:ext cx="792162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/>
              <a:t>或</a:t>
            </a:r>
          </a:p>
        </p:txBody>
      </p:sp>
      <p:sp>
        <p:nvSpPr>
          <p:cNvPr id="21514" name="Rectangle 28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1515" name="Object 27"/>
          <p:cNvGraphicFramePr>
            <a:graphicFrameLocks noChangeAspect="1"/>
          </p:cNvGraphicFramePr>
          <p:nvPr/>
        </p:nvGraphicFramePr>
        <p:xfrm>
          <a:off x="2627313" y="1992313"/>
          <a:ext cx="136842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774364" imgH="482391" progId="Equation.3">
                  <p:embed/>
                </p:oleObj>
              </mc:Choice>
              <mc:Fallback>
                <p:oleObj name="公式" r:id="rId7" imgW="774364" imgH="482391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1992313"/>
                        <a:ext cx="1368425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6" name="Rectangle 30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1517" name="Object 29"/>
          <p:cNvGraphicFramePr>
            <a:graphicFrameLocks noChangeAspect="1"/>
          </p:cNvGraphicFramePr>
          <p:nvPr/>
        </p:nvGraphicFramePr>
        <p:xfrm>
          <a:off x="7021513" y="1989138"/>
          <a:ext cx="15113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774364" imgH="368140" progId="Equation.3">
                  <p:embed/>
                </p:oleObj>
              </mc:Choice>
              <mc:Fallback>
                <p:oleObj name="公式" r:id="rId9" imgW="774364" imgH="36814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1513" y="1989138"/>
                        <a:ext cx="1511300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8" name="Text Box 31"/>
          <p:cNvSpPr txBox="1">
            <a:spLocks noChangeArrowheads="1"/>
          </p:cNvSpPr>
          <p:nvPr/>
        </p:nvSpPr>
        <p:spPr bwMode="auto">
          <a:xfrm>
            <a:off x="2555875" y="1628775"/>
            <a:ext cx="1150938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400"/>
              <a:t>其中：</a:t>
            </a:r>
          </a:p>
        </p:txBody>
      </p:sp>
      <p:sp>
        <p:nvSpPr>
          <p:cNvPr id="21519" name="Text Box 32"/>
          <p:cNvSpPr txBox="1">
            <a:spLocks noChangeArrowheads="1"/>
          </p:cNvSpPr>
          <p:nvPr/>
        </p:nvSpPr>
        <p:spPr bwMode="auto">
          <a:xfrm>
            <a:off x="7019925" y="1628775"/>
            <a:ext cx="1150938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400"/>
              <a:t>其中：</a:t>
            </a:r>
          </a:p>
        </p:txBody>
      </p:sp>
      <p:sp>
        <p:nvSpPr>
          <p:cNvPr id="21520" name="Rectangle 34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1521" name="Object 33"/>
          <p:cNvGraphicFramePr>
            <a:graphicFrameLocks noChangeAspect="1"/>
          </p:cNvGraphicFramePr>
          <p:nvPr/>
        </p:nvGraphicFramePr>
        <p:xfrm>
          <a:off x="1116013" y="2852738"/>
          <a:ext cx="223202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889000" imgH="228600" progId="Equation.3">
                  <p:embed/>
                </p:oleObj>
              </mc:Choice>
              <mc:Fallback>
                <p:oleObj name="公式" r:id="rId11" imgW="889000" imgH="2286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852738"/>
                        <a:ext cx="2232025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2" name="Rectangle 36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21523" name="Rectangle 38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1524" name="Object 37"/>
          <p:cNvGraphicFramePr>
            <a:graphicFrameLocks noChangeAspect="1"/>
          </p:cNvGraphicFramePr>
          <p:nvPr/>
        </p:nvGraphicFramePr>
        <p:xfrm>
          <a:off x="1042988" y="3544888"/>
          <a:ext cx="68421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3238500" imgH="342900" progId="Equation.3">
                  <p:embed/>
                </p:oleObj>
              </mc:Choice>
              <mc:Fallback>
                <p:oleObj name="公式" r:id="rId13" imgW="3238500" imgH="3429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544888"/>
                        <a:ext cx="68421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5" name="Rectangle 40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1526" name="Object 39"/>
          <p:cNvGraphicFramePr>
            <a:graphicFrameLocks noChangeAspect="1"/>
          </p:cNvGraphicFramePr>
          <p:nvPr/>
        </p:nvGraphicFramePr>
        <p:xfrm>
          <a:off x="1908175" y="4121150"/>
          <a:ext cx="590550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971800" imgH="342900" progId="Equation.3">
                  <p:embed/>
                </p:oleObj>
              </mc:Choice>
              <mc:Fallback>
                <p:oleObj name="公式" r:id="rId15" imgW="2971800" imgH="3429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121150"/>
                        <a:ext cx="5905500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7" name="Rectangle 42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28" name="Object 41"/>
              <p:cNvSpPr txBox="1"/>
              <p:nvPr/>
            </p:nvSpPr>
            <p:spPr bwMode="auto">
              <a:xfrm>
                <a:off x="395536" y="4592327"/>
                <a:ext cx="8603431" cy="668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func>
                        <m:func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)⋅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nary>
                        </m:e>
                      </m:func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func>
                        <m:func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zh-CN" altLang="en-US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zh-CN" altLang="en-US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)⋅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unc>
                                <m:func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0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</m:func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1528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536" y="4592327"/>
                <a:ext cx="8603431" cy="668338"/>
              </a:xfrm>
              <a:prstGeom prst="rect">
                <a:avLst/>
              </a:prstGeom>
              <a:blipFill>
                <a:blip r:embed="rId17"/>
                <a:stretch>
                  <a:fillRect b="-172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29" name="Rectangle 44"/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1530" name="Object 43"/>
          <p:cNvGraphicFramePr>
            <a:graphicFrameLocks noChangeAspect="1"/>
          </p:cNvGraphicFramePr>
          <p:nvPr/>
        </p:nvGraphicFramePr>
        <p:xfrm>
          <a:off x="2339975" y="5200650"/>
          <a:ext cx="4103688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070100" imgH="482600" progId="Equation.3">
                  <p:embed/>
                </p:oleObj>
              </mc:Choice>
              <mc:Fallback>
                <p:oleObj name="公式" r:id="rId18" imgW="2070100" imgH="48260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5200650"/>
                        <a:ext cx="4103688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1" name="Rectangle 46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1532" name="Object 45"/>
          <p:cNvGraphicFramePr>
            <a:graphicFrameLocks noChangeAspect="1"/>
          </p:cNvGraphicFramePr>
          <p:nvPr/>
        </p:nvGraphicFramePr>
        <p:xfrm>
          <a:off x="1116013" y="6092825"/>
          <a:ext cx="33845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587500" imgH="368300" progId="Equation.3">
                  <p:embed/>
                </p:oleObj>
              </mc:Choice>
              <mc:Fallback>
                <p:oleObj name="公式" r:id="rId20" imgW="1587500" imgH="3683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6092825"/>
                        <a:ext cx="338455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91" name="Text Box 47"/>
          <p:cNvSpPr txBox="1">
            <a:spLocks noChangeArrowheads="1"/>
          </p:cNvSpPr>
          <p:nvPr/>
        </p:nvSpPr>
        <p:spPr bwMode="auto">
          <a:xfrm>
            <a:off x="5365750" y="6092825"/>
            <a:ext cx="3527425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相对熵</a:t>
            </a:r>
            <a:r>
              <a:rPr lang="zh-CN" altLang="en-US">
                <a:latin typeface="Calibri" panose="020F0502020204030204" pitchFamily="34" charset="0"/>
              </a:rPr>
              <a:t>　或　</a:t>
            </a:r>
            <a:r>
              <a:rPr lang="zh-CN" altLang="en-US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差熵</a:t>
            </a:r>
          </a:p>
        </p:txBody>
      </p:sp>
      <p:sp>
        <p:nvSpPr>
          <p:cNvPr id="21534" name="Text Box 48"/>
          <p:cNvSpPr txBox="1">
            <a:spLocks noChangeArrowheads="1"/>
          </p:cNvSpPr>
          <p:nvPr/>
        </p:nvSpPr>
        <p:spPr bwMode="auto">
          <a:xfrm>
            <a:off x="34925" y="92075"/>
            <a:ext cx="2881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信息与信息论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D9D3F91-0361-98BD-F0DD-6C4D16A77177}"/>
                  </a:ext>
                </a:extLst>
              </p:cNvPr>
              <p:cNvSpPr txBox="1"/>
              <p:nvPr/>
            </p:nvSpPr>
            <p:spPr>
              <a:xfrm>
                <a:off x="7837443" y="4152793"/>
                <a:ext cx="1296252" cy="47622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D9D3F91-0361-98BD-F0DD-6C4D16A77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443" y="4152793"/>
                <a:ext cx="1296252" cy="476221"/>
              </a:xfrm>
              <a:prstGeom prst="rect">
                <a:avLst/>
              </a:prstGeom>
              <a:blipFill>
                <a:blip r:embed="rId22"/>
                <a:stretch>
                  <a:fillRect l="-56075" t="-178750" r="-2336" b="-26500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A1F5584A-0E76-2DAB-B655-510705AA1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2757" y="5181778"/>
            <a:ext cx="1278866" cy="866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0" y="620713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993300"/>
                </a:solidFill>
                <a:latin typeface="Times New Roman" panose="02020603050405020304" pitchFamily="18" charset="0"/>
              </a:rPr>
              <a:t>连续信源最大熵定理</a:t>
            </a:r>
            <a:endParaRPr kumimoji="1" lang="zh-CN" altLang="en-US" sz="280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2" name="Text Box 31"/>
          <p:cNvSpPr txBox="1">
            <a:spLocks noChangeArrowheads="1"/>
          </p:cNvSpPr>
          <p:nvPr/>
        </p:nvSpPr>
        <p:spPr bwMode="auto">
          <a:xfrm>
            <a:off x="611188" y="1196975"/>
            <a:ext cx="2808287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8000"/>
                </a:solidFill>
              </a:rPr>
              <a:t>峰值功率受限：</a:t>
            </a:r>
          </a:p>
        </p:txBody>
      </p:sp>
      <p:sp>
        <p:nvSpPr>
          <p:cNvPr id="22533" name="Text Box 32"/>
          <p:cNvSpPr txBox="1">
            <a:spLocks noChangeArrowheads="1"/>
          </p:cNvSpPr>
          <p:nvPr/>
        </p:nvSpPr>
        <p:spPr bwMode="auto">
          <a:xfrm>
            <a:off x="539750" y="1628775"/>
            <a:ext cx="21590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/>
              <a:t>概率密度</a:t>
            </a:r>
            <a:endParaRPr lang="en-US" altLang="zh-CN"/>
          </a:p>
        </p:txBody>
      </p:sp>
      <p:sp>
        <p:nvSpPr>
          <p:cNvPr id="22534" name="Rectangle 34"/>
          <p:cNvSpPr>
            <a:spLocks noChangeArrowheads="1"/>
          </p:cNvSpPr>
          <p:nvPr/>
        </p:nvSpPr>
        <p:spPr bwMode="auto">
          <a:xfrm>
            <a:off x="0" y="2908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2535" name="Object 33"/>
          <p:cNvGraphicFramePr>
            <a:graphicFrameLocks noChangeAspect="1"/>
          </p:cNvGraphicFramePr>
          <p:nvPr/>
        </p:nvGraphicFramePr>
        <p:xfrm>
          <a:off x="2411413" y="1268413"/>
          <a:ext cx="3097212" cy="120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74800" imgH="609600" progId="Equation.3">
                  <p:embed/>
                </p:oleObj>
              </mc:Choice>
              <mc:Fallback>
                <p:oleObj name="公式" r:id="rId4" imgW="1574800" imgH="6096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1268413"/>
                        <a:ext cx="3097212" cy="1201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35"/>
          <p:cNvGraphicFramePr>
            <a:graphicFrameLocks noChangeAspect="1"/>
          </p:cNvGraphicFramePr>
          <p:nvPr/>
        </p:nvGraphicFramePr>
        <p:xfrm>
          <a:off x="2484438" y="2378075"/>
          <a:ext cx="4535487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425700" imgH="482600" progId="Equation.3">
                  <p:embed/>
                </p:oleObj>
              </mc:Choice>
              <mc:Fallback>
                <p:oleObj name="公式" r:id="rId6" imgW="2425700" imgH="4826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378075"/>
                        <a:ext cx="4535487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8" name="Text Box 37"/>
          <p:cNvSpPr txBox="1">
            <a:spLocks noChangeArrowheads="1"/>
          </p:cNvSpPr>
          <p:nvPr/>
        </p:nvSpPr>
        <p:spPr bwMode="auto">
          <a:xfrm>
            <a:off x="395288" y="2522538"/>
            <a:ext cx="2519362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/>
              <a:t>最大相对熵</a:t>
            </a:r>
          </a:p>
        </p:txBody>
      </p:sp>
      <p:sp>
        <p:nvSpPr>
          <p:cNvPr id="22539" name="Text Box 38"/>
          <p:cNvSpPr txBox="1">
            <a:spLocks noChangeArrowheads="1"/>
          </p:cNvSpPr>
          <p:nvPr/>
        </p:nvSpPr>
        <p:spPr bwMode="auto">
          <a:xfrm>
            <a:off x="684213" y="3213100"/>
            <a:ext cx="2808287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7030A0"/>
                </a:solidFill>
              </a:rPr>
              <a:t>平均功率受限：</a:t>
            </a:r>
          </a:p>
        </p:txBody>
      </p:sp>
      <p:sp>
        <p:nvSpPr>
          <p:cNvPr id="22540" name="Text Box 39"/>
          <p:cNvSpPr txBox="1">
            <a:spLocks noChangeArrowheads="1"/>
          </p:cNvSpPr>
          <p:nvPr/>
        </p:nvSpPr>
        <p:spPr bwMode="auto">
          <a:xfrm>
            <a:off x="612775" y="3717925"/>
            <a:ext cx="21590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/>
              <a:t>概率密度</a:t>
            </a:r>
            <a:endParaRPr lang="en-US" altLang="zh-CN"/>
          </a:p>
        </p:txBody>
      </p:sp>
      <p:sp>
        <p:nvSpPr>
          <p:cNvPr id="22541" name="Text Box 42"/>
          <p:cNvSpPr txBox="1">
            <a:spLocks noChangeArrowheads="1"/>
          </p:cNvSpPr>
          <p:nvPr/>
        </p:nvSpPr>
        <p:spPr bwMode="auto">
          <a:xfrm>
            <a:off x="612775" y="4314825"/>
            <a:ext cx="2519363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/>
              <a:t>最大相对熵</a:t>
            </a:r>
          </a:p>
        </p:txBody>
      </p:sp>
      <p:sp>
        <p:nvSpPr>
          <p:cNvPr id="22542" name="Rectangle 44"/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543" name="Object 43"/>
              <p:cNvSpPr txBox="1"/>
              <p:nvPr/>
            </p:nvSpPr>
            <p:spPr bwMode="auto">
              <a:xfrm>
                <a:off x="2576990" y="3479210"/>
                <a:ext cx="3313112" cy="115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22543" name="Object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6990" y="3479210"/>
                <a:ext cx="3313112" cy="11557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44" name="Rectangle 46"/>
          <p:cNvSpPr>
            <a:spLocks noChangeArrowheads="1"/>
          </p:cNvSpPr>
          <p:nvPr/>
        </p:nvSpPr>
        <p:spPr bwMode="auto">
          <a:xfrm>
            <a:off x="0" y="3148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545" name="Object 45"/>
              <p:cNvSpPr txBox="1"/>
              <p:nvPr/>
            </p:nvSpPr>
            <p:spPr bwMode="auto">
              <a:xfrm>
                <a:off x="701675" y="4657134"/>
                <a:ext cx="8101012" cy="1171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nary>
                        <m:nary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zh-CN" alt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zh-CN" altLang="en-US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zh-CN" altLang="en-US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p>
                                              <m:r>
                                                <a:rPr lang="zh-CN" altLang="en-US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rad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zh-CN" altLang="en-US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zh-CN" altLang="en-US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zh-CN" altLang="en-US" i="1" smtClean="0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zh-CN" altLang="en-US" i="1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zh-CN" altLang="en-US" i="1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  <m:sup>
                                              <m:r>
                                                <a:rPr lang="zh-CN" altLang="en-US" i="1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lang="zh-CN" altLang="en-US" i="1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zh-CN" altLang="en-US" i="1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zh-CN" altLang="en-US" i="1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p>
                                              <m:r>
                                                <a:rPr lang="zh-CN" altLang="en-US" i="1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sup>
                                  </m:sSup>
                                </m:e>
                              </m:d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2545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675" y="4657134"/>
                <a:ext cx="8101012" cy="11715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46" name="Rectangle 48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22548" name="Rectangle 50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2549" name="Object 49"/>
          <p:cNvGraphicFramePr>
            <a:graphicFrameLocks noChangeAspect="1"/>
          </p:cNvGraphicFramePr>
          <p:nvPr/>
        </p:nvGraphicFramePr>
        <p:xfrm>
          <a:off x="179388" y="6092825"/>
          <a:ext cx="4392612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235200" imgH="393700" progId="Equation.3">
                  <p:embed/>
                </p:oleObj>
              </mc:Choice>
              <mc:Fallback>
                <p:oleObj name="公式" r:id="rId10" imgW="2235200" imgH="3937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6092825"/>
                        <a:ext cx="4392612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0" name="Rectangle 52"/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2551" name="Object 51"/>
          <p:cNvGraphicFramePr>
            <a:graphicFrameLocks noChangeAspect="1"/>
          </p:cNvGraphicFramePr>
          <p:nvPr/>
        </p:nvGraphicFramePr>
        <p:xfrm>
          <a:off x="6084888" y="3213100"/>
          <a:ext cx="17272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38200" imgH="330200" progId="Equation.3">
                  <p:embed/>
                </p:oleObj>
              </mc:Choice>
              <mc:Fallback>
                <p:oleObj name="公式" r:id="rId12" imgW="838200" imgH="3302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3213100"/>
                        <a:ext cx="172720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2553" name="Object 53"/>
              <p:cNvSpPr txBox="1"/>
              <p:nvPr/>
            </p:nvSpPr>
            <p:spPr bwMode="auto">
              <a:xfrm>
                <a:off x="6012160" y="3811411"/>
                <a:ext cx="3059112" cy="704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22553" name="Object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12160" y="3811411"/>
                <a:ext cx="3059112" cy="70485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023" name="Text Box 55"/>
          <p:cNvSpPr txBox="1">
            <a:spLocks noChangeArrowheads="1"/>
          </p:cNvSpPr>
          <p:nvPr/>
        </p:nvSpPr>
        <p:spPr bwMode="auto">
          <a:xfrm>
            <a:off x="5867400" y="1484313"/>
            <a:ext cx="2520950" cy="931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4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密度均匀分布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4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幅值越大熵越大</a:t>
            </a:r>
          </a:p>
        </p:txBody>
      </p:sp>
      <p:sp>
        <p:nvSpPr>
          <p:cNvPr id="84024" name="Text Box 56"/>
          <p:cNvSpPr txBox="1">
            <a:spLocks noChangeArrowheads="1"/>
          </p:cNvSpPr>
          <p:nvPr/>
        </p:nvSpPr>
        <p:spPr bwMode="auto">
          <a:xfrm>
            <a:off x="6372225" y="5734050"/>
            <a:ext cx="2736850" cy="931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4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密度高斯</a:t>
            </a:r>
            <a:r>
              <a:rPr lang="en-US" altLang="zh-CN" sz="24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(</a:t>
            </a:r>
            <a:r>
              <a:rPr lang="zh-CN" altLang="en-US" sz="24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正态</a:t>
            </a:r>
            <a:r>
              <a:rPr lang="en-US" altLang="zh-CN" sz="24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)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4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分布幅相对熵最大</a:t>
            </a:r>
          </a:p>
        </p:txBody>
      </p:sp>
      <p:sp>
        <p:nvSpPr>
          <p:cNvPr id="22556" name="Text Box 57"/>
          <p:cNvSpPr txBox="1">
            <a:spLocks noChangeArrowheads="1"/>
          </p:cNvSpPr>
          <p:nvPr/>
        </p:nvSpPr>
        <p:spPr bwMode="auto">
          <a:xfrm>
            <a:off x="34925" y="92075"/>
            <a:ext cx="2881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信息与信息论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41930" y="5466951"/>
                <a:ext cx="6159058" cy="686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𝑙𝑜𝑔</m:t>
                          </m:r>
                          <m:rad>
                            <m:radPr>
                              <m:degHide m:val="on"/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>
                            <m:fPr>
                              <m:ctrlPr>
                                <a:rPr lang="en-US" altLang="zh-CN" sz="20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0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0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CN" sz="20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20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𝑙𝑜𝑔𝑒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30" y="5466951"/>
                <a:ext cx="6159058" cy="68659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Rectangle 4"/>
          <p:cNvSpPr>
            <a:spLocks noChangeArrowheads="1"/>
          </p:cNvSpPr>
          <p:nvPr/>
        </p:nvSpPr>
        <p:spPr bwMode="auto">
          <a:xfrm>
            <a:off x="0" y="620713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993300"/>
                </a:solidFill>
                <a:latin typeface="Times New Roman" panose="02020603050405020304" pitchFamily="18" charset="0"/>
              </a:rPr>
              <a:t>信息与熵守恒定律</a:t>
            </a:r>
            <a:endParaRPr kumimoji="1" lang="zh-CN" altLang="en-US" sz="280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21" name="Text Box 29"/>
          <p:cNvSpPr txBox="1">
            <a:spLocks noChangeArrowheads="1"/>
          </p:cNvSpPr>
          <p:nvPr/>
        </p:nvSpPr>
        <p:spPr bwMode="auto">
          <a:xfrm>
            <a:off x="179388" y="1412875"/>
            <a:ext cx="8713787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8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             一个体系的信息与熵的各保持恒定，并等于该体系在给定条件下所能达到的最多信息或最大熵</a:t>
            </a:r>
          </a:p>
        </p:txBody>
      </p:sp>
      <p:sp>
        <p:nvSpPr>
          <p:cNvPr id="24581" name="Rectangle 3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24583" name="Rectangle 33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24585" name="Rectangle 3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24587" name="Text Box 36"/>
          <p:cNvSpPr txBox="1">
            <a:spLocks noChangeArrowheads="1"/>
          </p:cNvSpPr>
          <p:nvPr/>
        </p:nvSpPr>
        <p:spPr bwMode="auto">
          <a:xfrm>
            <a:off x="34925" y="92075"/>
            <a:ext cx="2881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信息与信息论</a:t>
            </a:r>
          </a:p>
        </p:txBody>
      </p:sp>
      <p:sp>
        <p:nvSpPr>
          <p:cNvPr id="2" name="Rectangle 31">
            <a:extLst>
              <a:ext uri="{FF2B5EF4-FFF2-40B4-BE49-F238E27FC236}">
                <a16:creationId xmlns:a16="http://schemas.microsoft.com/office/drawing/2014/main" id="{802D8058-61FF-1CE7-C261-6A788C03E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3" name="Rectangle 33">
            <a:extLst>
              <a:ext uri="{FF2B5EF4-FFF2-40B4-BE49-F238E27FC236}">
                <a16:creationId xmlns:a16="http://schemas.microsoft.com/office/drawing/2014/main" id="{EFED06F1-F6AD-8D22-7124-4A3F6C1FA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4" name="Rectangle 35">
            <a:extLst>
              <a:ext uri="{FF2B5EF4-FFF2-40B4-BE49-F238E27FC236}">
                <a16:creationId xmlns:a16="http://schemas.microsoft.com/office/drawing/2014/main" id="{AEAC9097-4FBE-87E7-19A5-70B1C8B0C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64D68E-3ACD-681A-8CEF-972FD5F7310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83568" y="2688490"/>
            <a:ext cx="4943400" cy="83099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EAC782-ECD5-702F-3A68-B9F9226667C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23528" y="3904777"/>
            <a:ext cx="7674024" cy="83099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1B7898-2E5E-81A7-7C69-E21DCC11DD2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71600" y="4985543"/>
            <a:ext cx="4248472" cy="830997"/>
          </a:xfrm>
          <a:prstGeom prst="rect">
            <a:avLst/>
          </a:prstGeom>
          <a:blipFill>
            <a:blip r:embed="rId5"/>
            <a:stretch>
              <a:fillRect l="-40678" r="-39952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Rectangle 14"/>
          <p:cNvSpPr>
            <a:spLocks noChangeArrowheads="1"/>
          </p:cNvSpPr>
          <p:nvPr/>
        </p:nvSpPr>
        <p:spPr bwMode="auto">
          <a:xfrm>
            <a:off x="2195513" y="765175"/>
            <a:ext cx="2209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993300"/>
                </a:solidFill>
                <a:latin typeface="Times New Roman" panose="02020603050405020304" pitchFamily="18" charset="0"/>
              </a:rPr>
              <a:t>作业题：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25604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3" y="4278313"/>
            <a:ext cx="2700337" cy="2579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5" name="Picture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713"/>
            <a:ext cx="2124075" cy="183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606" name="Rectangle 19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5607" name="Object 18"/>
          <p:cNvGraphicFramePr>
            <a:graphicFrameLocks noChangeAspect="1"/>
          </p:cNvGraphicFramePr>
          <p:nvPr/>
        </p:nvGraphicFramePr>
        <p:xfrm>
          <a:off x="2555875" y="1341438"/>
          <a:ext cx="5688013" cy="108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387600" imgH="457200" progId="Equation.3">
                  <p:embed/>
                </p:oleObj>
              </mc:Choice>
              <mc:Fallback>
                <p:oleObj name="公式" r:id="rId5" imgW="2387600" imgH="4572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1341438"/>
                        <a:ext cx="5688013" cy="1087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8" name="Rectangle 21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5609" name="Object 20"/>
          <p:cNvGraphicFramePr>
            <a:graphicFrameLocks noChangeAspect="1"/>
          </p:cNvGraphicFramePr>
          <p:nvPr/>
        </p:nvGraphicFramePr>
        <p:xfrm>
          <a:off x="2411413" y="2492375"/>
          <a:ext cx="4895850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879600" imgH="457200" progId="Equation.3">
                  <p:embed/>
                </p:oleObj>
              </mc:Choice>
              <mc:Fallback>
                <p:oleObj name="公式" r:id="rId7" imgW="1879600" imgH="4572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492375"/>
                        <a:ext cx="4895850" cy="119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0" name="Text Box 22"/>
          <p:cNvSpPr txBox="1">
            <a:spLocks noChangeArrowheads="1"/>
          </p:cNvSpPr>
          <p:nvPr/>
        </p:nvSpPr>
        <p:spPr bwMode="auto">
          <a:xfrm>
            <a:off x="1258888" y="4292600"/>
            <a:ext cx="4033837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/>
              <a:t>计算信息熵。</a:t>
            </a:r>
          </a:p>
        </p:txBody>
      </p:sp>
      <p:sp>
        <p:nvSpPr>
          <p:cNvPr id="25611" name="Text Box 23"/>
          <p:cNvSpPr txBox="1">
            <a:spLocks noChangeArrowheads="1"/>
          </p:cNvSpPr>
          <p:nvPr/>
        </p:nvSpPr>
        <p:spPr bwMode="auto">
          <a:xfrm>
            <a:off x="34925" y="92075"/>
            <a:ext cx="2881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信息与信息论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1034</TotalTime>
  <Words>1319</Words>
  <Application>Microsoft Office PowerPoint</Application>
  <PresentationFormat>全屏显示(4:3)</PresentationFormat>
  <Paragraphs>176</Paragraphs>
  <Slides>22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黑体</vt:lpstr>
      <vt:lpstr>楷体_GB2312</vt:lpstr>
      <vt:lpstr>宋体</vt:lpstr>
      <vt:lpstr>Arial</vt:lpstr>
      <vt:lpstr>Calibri</vt:lpstr>
      <vt:lpstr>Cambria Math</vt:lpstr>
      <vt:lpstr>Times New Roman</vt:lpstr>
      <vt:lpstr>Wingdings</vt:lpstr>
      <vt:lpstr>Office Theme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Monica Hernandez</dc:creator>
  <cp:lastModifiedBy>XX SZ</cp:lastModifiedBy>
  <cp:revision>69</cp:revision>
  <dcterms:created xsi:type="dcterms:W3CDTF">2008-06-20T03:50:12Z</dcterms:created>
  <dcterms:modified xsi:type="dcterms:W3CDTF">2026-05-06T02:36:55Z</dcterms:modified>
</cp:coreProperties>
</file>